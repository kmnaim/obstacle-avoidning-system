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xlsx" ContentType="application/vnd.openxmlformats-officedocument.spreadsheetml.sheet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4" r:id="rId4"/>
    <p:sldId id="270" r:id="rId5"/>
    <p:sldId id="271" r:id="rId6"/>
    <p:sldId id="274" r:id="rId7"/>
    <p:sldId id="275" r:id="rId8"/>
    <p:sldId id="277" r:id="rId9"/>
    <p:sldId id="269" r:id="rId10"/>
    <p:sldId id="272" r:id="rId11"/>
    <p:sldId id="276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5F4"/>
    <a:srgbClr val="C8242F"/>
    <a:srgbClr val="C6242F"/>
    <a:srgbClr val="F2E5B9"/>
    <a:srgbClr val="0F3041"/>
    <a:srgbClr val="B27251"/>
    <a:srgbClr val="373737"/>
    <a:srgbClr val="404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5" autoAdjust="0"/>
    <p:restoredTop sz="99820" autoAdjust="0"/>
  </p:normalViewPr>
  <p:slideViewPr>
    <p:cSldViewPr snapToGrid="0">
      <p:cViewPr varScale="1">
        <p:scale>
          <a:sx n="67" d="100"/>
          <a:sy n="67" d="100"/>
        </p:scale>
        <p:origin x="186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0B0-46CA-80DD-D7406F9D185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0B0-46CA-80DD-D7406F9D185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0B0-46CA-80DD-D7406F9D18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5899776"/>
        <c:axId val="155901312"/>
      </c:lineChart>
      <c:catAx>
        <c:axId val="155899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901312"/>
        <c:crosses val="autoZero"/>
        <c:auto val="1"/>
        <c:lblAlgn val="ctr"/>
        <c:lblOffset val="100"/>
        <c:noMultiLvlLbl val="0"/>
      </c:catAx>
      <c:valAx>
        <c:axId val="1559013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8997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1"/>
      </a:solidFill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28579-16F9-4763-8041-F849E5AAD3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E60628-A8EE-47E1-A868-E36B1CCEB9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43C861-AA51-4669-B4EA-404B2340E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2DEC9-E146-4D7B-97C9-C490C4AC68BD}" type="datetimeFigureOut">
              <a:rPr lang="en-IN" smtClean="0"/>
              <a:pPr/>
              <a:t>24-04-2022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AED004-B805-4E32-8C34-914A946E2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AB5E13-4892-4809-8C11-46EAACD0D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5FFB0-3A4C-4A09-A1EC-2746B809881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4532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25127-67A9-4AB7-A102-FB394E997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4CD0C-3A37-453A-AD6A-338FCFCADE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527B2-C20F-4AA2-8FE1-A9C818FF5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2DEC9-E146-4D7B-97C9-C490C4AC68BD}" type="datetimeFigureOut">
              <a:rPr lang="en-IN" smtClean="0"/>
              <a:pPr/>
              <a:t>24-04-2022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A27D4D-F2FF-42B5-B7B2-4AD9D5581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956368-C480-43FD-9196-F02576FEE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5FFB0-3A4C-4A09-A1EC-2746B809881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4254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75EDC-9BBF-43DC-991B-4034C1F4D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096647-E76B-4998-90C5-2C7CD2EB96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4D9572-3B6E-405B-9332-EADE6414C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2DEC9-E146-4D7B-97C9-C490C4AC68BD}" type="datetimeFigureOut">
              <a:rPr lang="en-IN" smtClean="0"/>
              <a:pPr/>
              <a:t>24-04-2022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3BB388-7E93-45E4-A01A-6FBF43509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F179F-F82A-42FF-8F7E-373114911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5FFB0-3A4C-4A09-A1EC-2746B809881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5398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56A7B-AB60-41AC-B69D-5F343EB92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07255-EF95-4C84-A67F-A05C4AD57F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E08061-73D6-419F-9C92-84380EB747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E1E495-CD5F-4371-A339-54DB3FB9B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2DEC9-E146-4D7B-97C9-C490C4AC68BD}" type="datetimeFigureOut">
              <a:rPr lang="en-IN" smtClean="0"/>
              <a:pPr/>
              <a:t>24-04-2022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AB347A-7B54-4A80-BE66-359DCD2B1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3672A7-FC91-47E7-BC32-214129888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5FFB0-3A4C-4A09-A1EC-2746B809881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2105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447D1-6903-48AE-BDFC-EEC278E98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CEF392-C970-4266-8D65-A128CC2C16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50D42C-7E44-4CF4-B228-7748F13DC2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21BAA3-D4AE-4EE4-A020-FC5BB1534B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48DB84-1C97-436D-B21E-F33D3B9466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233C40-D929-4205-A881-042FF4D1B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2DEC9-E146-4D7B-97C9-C490C4AC68BD}" type="datetimeFigureOut">
              <a:rPr lang="en-IN" smtClean="0"/>
              <a:pPr/>
              <a:t>24-04-2022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0CC377-37B8-4B13-B7A5-0A4DBDF57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9E6E7A-6729-4DAD-90A2-90115501D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5FFB0-3A4C-4A09-A1EC-2746B809881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7255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9E99E-D851-4E8E-B821-022239DA8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1A8E8F-44FF-4E3A-9437-15143FF6F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2DEC9-E146-4D7B-97C9-C490C4AC68BD}" type="datetimeFigureOut">
              <a:rPr lang="en-IN" smtClean="0"/>
              <a:pPr/>
              <a:t>24-04-2022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7B76CC-2AC8-4C01-BF25-E9E9CFEF2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E1BD07-2DAA-4255-86E6-A42943E71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5FFB0-3A4C-4A09-A1EC-2746B809881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9246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92A6D1-B41E-4DB2-B25B-4698B7AE8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2DEC9-E146-4D7B-97C9-C490C4AC68BD}" type="datetimeFigureOut">
              <a:rPr lang="en-IN" smtClean="0"/>
              <a:pPr/>
              <a:t>24-04-2022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3C05D9-D71A-4958-AEB9-EAF39DD01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72C4BD-24BE-4301-81B4-D2FF240BC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5FFB0-3A4C-4A09-A1EC-2746B809881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2284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3206C-3F31-4A62-AC75-A63D08FA1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EA1B52-9ABF-4803-BD77-9FAD4528CB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37CFBA-E884-4D64-B9BC-A64AD742E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124EFA-B069-4717-9523-711F27C76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2DEC9-E146-4D7B-97C9-C490C4AC68BD}" type="datetimeFigureOut">
              <a:rPr lang="en-IN" smtClean="0"/>
              <a:pPr/>
              <a:t>24-04-2022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D6B366-4F41-4F60-B739-FD5DB855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BF194A-77AD-43F4-A509-9612A7098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5FFB0-3A4C-4A09-A1EC-2746B809881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85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520FC-A76E-4EB0-B325-799189EA8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E9A710-ECC3-4D1A-951E-11B64486E0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238A22-28E0-478C-ABC0-80B54C2D2E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A0A4EE-8AE8-4F6F-AF00-D4FFC2D77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2DEC9-E146-4D7B-97C9-C490C4AC68BD}" type="datetimeFigureOut">
              <a:rPr lang="en-IN" smtClean="0"/>
              <a:pPr/>
              <a:t>24-04-2022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64ED62-ABA7-4509-AB0D-FEC7CB71D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B0F2BA-3D70-4D28-879A-A228370DD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5FFB0-3A4C-4A09-A1EC-2746B809881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2396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412C8-EE28-43A4-84A9-B293248BC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86B7B8-DD3C-4B46-8B89-CF21F9BDE4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2F98E-5518-4BA9-8F81-B6EA0F2E9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2DEC9-E146-4D7B-97C9-C490C4AC68BD}" type="datetimeFigureOut">
              <a:rPr lang="en-IN" smtClean="0"/>
              <a:pPr/>
              <a:t>24-04-2022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1D7551-1D12-4350-A80D-965E1F36D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3A2C6F-358F-4B2D-BB21-BFF49D8D3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5FFB0-3A4C-4A09-A1EC-2746B809881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421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D3C835-5B31-468D-9D61-0E100D77C2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4B4076-5BC3-4D5A-805F-CD4BC3DD32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D04201-ADBC-4770-B88D-D8BBC8A0A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2DEC9-E146-4D7B-97C9-C490C4AC68BD}" type="datetimeFigureOut">
              <a:rPr lang="en-IN" smtClean="0"/>
              <a:pPr/>
              <a:t>24-04-2022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E025F8-BF3B-4605-AD41-A775B0E09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ED941-7B09-4A76-B6FD-46C399247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5FFB0-3A4C-4A09-A1EC-2746B809881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2813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1E2A0B-A2E0-4B76-A653-6028C04A6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731652-F94F-4062-8BE2-1C5B856A7C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D6AAA9-0770-46E1-9C5A-FACEC21DE7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72DEC9-E146-4D7B-97C9-C490C4AC68BD}" type="datetimeFigureOut">
              <a:rPr lang="en-IN" smtClean="0"/>
              <a:pPr/>
              <a:t>24-04-2022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05022B-350E-4009-AD1F-89AA4FE595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71B67C-EA84-4165-A3BC-E8C3DF3659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95FFB0-3A4C-4A09-A1EC-2746B809881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6736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13.svg"/><Relationship Id="rId7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eg"/><Relationship Id="rId5" Type="http://schemas.openxmlformats.org/officeDocument/2006/relationships/image" Target="../media/image6.png"/><Relationship Id="rId4" Type="http://schemas.openxmlformats.org/officeDocument/2006/relationships/chart" Target="../charts/chart1.xml"/><Relationship Id="rId9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13.svg"/><Relationship Id="rId7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jpe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A496CE44-7FD9-48FF-89D1-E8B659079234}"/>
              </a:ext>
            </a:extLst>
          </p:cNvPr>
          <p:cNvSpPr/>
          <p:nvPr/>
        </p:nvSpPr>
        <p:spPr>
          <a:xfrm>
            <a:off x="9166224" y="0"/>
            <a:ext cx="12182331" cy="6858000"/>
          </a:xfrm>
          <a:prstGeom prst="roundRect">
            <a:avLst>
              <a:gd name="adj" fmla="val 1015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127000" dist="76200" dir="10800000" sx="101000" sy="101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065773-9CB0-4F27-B751-4A37DE4B151B}"/>
              </a:ext>
            </a:extLst>
          </p:cNvPr>
          <p:cNvSpPr/>
          <p:nvPr/>
        </p:nvSpPr>
        <p:spPr>
          <a:xfrm>
            <a:off x="5481386" y="7192654"/>
            <a:ext cx="333594" cy="286604"/>
          </a:xfrm>
          <a:prstGeom prst="rect">
            <a:avLst/>
          </a:prstGeom>
          <a:solidFill>
            <a:srgbClr val="B272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E2C4A4-95C8-4BF8-AAB0-95B3118D994D}"/>
              </a:ext>
            </a:extLst>
          </p:cNvPr>
          <p:cNvSpPr/>
          <p:nvPr/>
        </p:nvSpPr>
        <p:spPr>
          <a:xfrm>
            <a:off x="4955547" y="7192654"/>
            <a:ext cx="333594" cy="286604"/>
          </a:xfrm>
          <a:prstGeom prst="rect">
            <a:avLst/>
          </a:prstGeom>
          <a:solidFill>
            <a:srgbClr val="3737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CB57BC-A4ED-4A42-8824-367ADB0DF803}"/>
              </a:ext>
            </a:extLst>
          </p:cNvPr>
          <p:cNvSpPr/>
          <p:nvPr/>
        </p:nvSpPr>
        <p:spPr>
          <a:xfrm>
            <a:off x="6699861" y="7192654"/>
            <a:ext cx="333594" cy="286604"/>
          </a:xfrm>
          <a:prstGeom prst="rect">
            <a:avLst/>
          </a:prstGeom>
          <a:solidFill>
            <a:srgbClr val="0F30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CE30460-38B3-475A-A2B7-B0914C420235}"/>
              </a:ext>
            </a:extLst>
          </p:cNvPr>
          <p:cNvSpPr/>
          <p:nvPr/>
        </p:nvSpPr>
        <p:spPr>
          <a:xfrm>
            <a:off x="6007225" y="7192654"/>
            <a:ext cx="333594" cy="286604"/>
          </a:xfrm>
          <a:prstGeom prst="rect">
            <a:avLst/>
          </a:prstGeom>
          <a:solidFill>
            <a:srgbClr val="C824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2D5E41-A6BE-4845-90C2-A7FC659F12B5}"/>
              </a:ext>
            </a:extLst>
          </p:cNvPr>
          <p:cNvSpPr/>
          <p:nvPr/>
        </p:nvSpPr>
        <p:spPr>
          <a:xfrm>
            <a:off x="7260349" y="7192654"/>
            <a:ext cx="333594" cy="286604"/>
          </a:xfrm>
          <a:prstGeom prst="rect">
            <a:avLst/>
          </a:prstGeom>
          <a:solidFill>
            <a:srgbClr val="F2E5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A9867F0-101B-4D02-967B-B5AA96F2DD93}"/>
              </a:ext>
            </a:extLst>
          </p:cNvPr>
          <p:cNvSpPr txBox="1"/>
          <p:nvPr/>
        </p:nvSpPr>
        <p:spPr>
          <a:xfrm>
            <a:off x="383730" y="1167664"/>
            <a:ext cx="8202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rgbClr val="0070C0"/>
                </a:solidFill>
                <a:latin typeface="Maven Pro" pitchFamily="2" charset="0"/>
                <a:ea typeface="Tahoma" panose="020B0604030504040204" pitchFamily="34" charset="0"/>
                <a:cs typeface="Tahoma" panose="020B0604030504040204" pitchFamily="34" charset="0"/>
              </a:rPr>
              <a:t>Microprocessor &amp; Microcontroller </a:t>
            </a:r>
            <a:r>
              <a:rPr lang="en-IN" sz="2400" dirty="0" smtClean="0">
                <a:solidFill>
                  <a:srgbClr val="0070C0"/>
                </a:solidFill>
                <a:latin typeface="Maven Pro" pitchFamily="2" charset="0"/>
                <a:ea typeface="Tahoma" panose="020B0604030504040204" pitchFamily="34" charset="0"/>
                <a:cs typeface="Tahoma" panose="020B0604030504040204" pitchFamily="34" charset="0"/>
              </a:rPr>
              <a:t>Laboratory</a:t>
            </a:r>
            <a:endParaRPr lang="en-IN" sz="2400" dirty="0">
              <a:solidFill>
                <a:srgbClr val="0070C0"/>
              </a:solidFill>
              <a:latin typeface="Maven Pro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DE26FAFE-F05E-4B64-AD03-0290DF9A20B8}"/>
              </a:ext>
            </a:extLst>
          </p:cNvPr>
          <p:cNvSpPr/>
          <p:nvPr/>
        </p:nvSpPr>
        <p:spPr>
          <a:xfrm>
            <a:off x="9983031" y="0"/>
            <a:ext cx="12182330" cy="6858000"/>
          </a:xfrm>
          <a:prstGeom prst="roundRect">
            <a:avLst>
              <a:gd name="adj" fmla="val 1401"/>
            </a:avLst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127000" dist="76200" dir="10800000" sx="101000" sy="101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F1EA363D-BF3D-4981-BF93-2C7755BC7668}"/>
              </a:ext>
            </a:extLst>
          </p:cNvPr>
          <p:cNvSpPr/>
          <p:nvPr/>
        </p:nvSpPr>
        <p:spPr>
          <a:xfrm>
            <a:off x="10752997" y="0"/>
            <a:ext cx="12182331" cy="6858000"/>
          </a:xfrm>
          <a:prstGeom prst="roundRect">
            <a:avLst>
              <a:gd name="adj" fmla="val 1401"/>
            </a:avLst>
          </a:prstGeom>
          <a:solidFill>
            <a:schemeClr val="accent1">
              <a:lumMod val="75000"/>
            </a:schemeClr>
          </a:solidFill>
          <a:ln>
            <a:solidFill>
              <a:schemeClr val="accent1"/>
            </a:solidFill>
          </a:ln>
          <a:effectLst>
            <a:outerShdw blurRad="127000" dist="76200" dir="10800000" sx="101000" sy="101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D68A4F18-CB86-4BDC-8E76-D3601D94C91D}"/>
              </a:ext>
            </a:extLst>
          </p:cNvPr>
          <p:cNvSpPr/>
          <p:nvPr/>
        </p:nvSpPr>
        <p:spPr>
          <a:xfrm>
            <a:off x="11650450" y="0"/>
            <a:ext cx="12182330" cy="6858000"/>
          </a:xfrm>
          <a:prstGeom prst="roundRect">
            <a:avLst>
              <a:gd name="adj" fmla="val 1788"/>
            </a:avLst>
          </a:prstGeom>
          <a:solidFill>
            <a:srgbClr val="0F3041"/>
          </a:solidFill>
          <a:ln>
            <a:noFill/>
          </a:ln>
          <a:effectLst>
            <a:outerShdw blurRad="127000" dist="76200" dir="10800000" sx="101000" sy="101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BEA104E5-B538-413B-A27D-447E7819706F}"/>
              </a:ext>
            </a:extLst>
          </p:cNvPr>
          <p:cNvSpPr/>
          <p:nvPr/>
        </p:nvSpPr>
        <p:spPr>
          <a:xfrm>
            <a:off x="12413068" y="0"/>
            <a:ext cx="12182331" cy="6858000"/>
          </a:xfrm>
          <a:prstGeom prst="roundRect">
            <a:avLst>
              <a:gd name="adj" fmla="val 1788"/>
            </a:avLst>
          </a:prstGeom>
          <a:solidFill>
            <a:srgbClr val="F2E5B9"/>
          </a:solidFill>
          <a:ln>
            <a:noFill/>
          </a:ln>
          <a:effectLst>
            <a:outerShdw blurRad="127000" dist="76200" dir="10800000" sx="101000" sy="101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DEB64BF-F817-43D7-A01B-1CEDD8F0C05E}"/>
              </a:ext>
            </a:extLst>
          </p:cNvPr>
          <p:cNvSpPr txBox="1"/>
          <p:nvPr/>
        </p:nvSpPr>
        <p:spPr>
          <a:xfrm>
            <a:off x="430304" y="1980831"/>
            <a:ext cx="8024991" cy="357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sz="2400" b="1" dirty="0" smtClean="0">
              <a:solidFill>
                <a:srgbClr val="0070C0"/>
              </a:solidFill>
              <a:latin typeface="Larsseit-Bold"/>
            </a:endParaRPr>
          </a:p>
          <a:p>
            <a:pPr algn="ctr"/>
            <a:r>
              <a:rPr lang="en-US" sz="2400" b="1" dirty="0" smtClean="0">
                <a:solidFill>
                  <a:srgbClr val="0070C0"/>
                </a:solidFill>
                <a:latin typeface="Larsseit-Bold"/>
              </a:rPr>
              <a:t>“Obstacle </a:t>
            </a:r>
            <a:r>
              <a:rPr lang="en-US" sz="2400" b="1" dirty="0">
                <a:solidFill>
                  <a:srgbClr val="0070C0"/>
                </a:solidFill>
                <a:latin typeface="Larsseit-Bold"/>
              </a:rPr>
              <a:t>Avoiding System </a:t>
            </a:r>
            <a:r>
              <a:rPr lang="en-US" sz="2400" b="1" dirty="0" smtClean="0">
                <a:solidFill>
                  <a:srgbClr val="0070C0"/>
                </a:solidFill>
                <a:latin typeface="Larsseit-Bold"/>
              </a:rPr>
              <a:t> </a:t>
            </a:r>
          </a:p>
          <a:p>
            <a:pPr algn="ctr"/>
            <a:r>
              <a:rPr lang="en-US" sz="2400" b="1" dirty="0" smtClean="0">
                <a:solidFill>
                  <a:srgbClr val="0070C0"/>
                </a:solidFill>
                <a:latin typeface="Larsseit-Bold"/>
              </a:rPr>
              <a:t>   using </a:t>
            </a:r>
            <a:r>
              <a:rPr lang="en-US" sz="2400" b="1" dirty="0">
                <a:solidFill>
                  <a:srgbClr val="0070C0"/>
                </a:solidFill>
                <a:latin typeface="Larsseit-Bold"/>
              </a:rPr>
              <a:t>Ultrasonic </a:t>
            </a:r>
            <a:r>
              <a:rPr lang="en-US" sz="2400" b="1" dirty="0" smtClean="0">
                <a:solidFill>
                  <a:srgbClr val="0070C0"/>
                </a:solidFill>
                <a:latin typeface="Larsseit-Bold"/>
              </a:rPr>
              <a:t>Sensor”</a:t>
            </a:r>
            <a:endParaRPr lang="en-US" b="1" i="0" dirty="0">
              <a:solidFill>
                <a:schemeClr val="tx2"/>
              </a:solidFill>
              <a:effectLst/>
              <a:latin typeface="Larsseit-Bold"/>
            </a:endParaRPr>
          </a:p>
          <a:p>
            <a:pPr algn="ctr"/>
            <a:endParaRPr lang="en-US" i="1" dirty="0" smtClean="0">
              <a:solidFill>
                <a:schemeClr val="accent1"/>
              </a:solidFill>
              <a:effectLst/>
              <a:latin typeface="Maven Pro" pitchFamily="2" charset="0"/>
            </a:endParaRPr>
          </a:p>
          <a:p>
            <a:pPr algn="ctr"/>
            <a:r>
              <a:rPr lang="en-US" u="sng" dirty="0" smtClean="0">
                <a:effectLst/>
                <a:latin typeface="Maven Pro" pitchFamily="2" charset="0"/>
              </a:rPr>
              <a:t>Submitted </a:t>
            </a:r>
            <a:r>
              <a:rPr lang="en-US" u="sng" dirty="0">
                <a:latin typeface="Maven Pro" pitchFamily="2" charset="0"/>
              </a:rPr>
              <a:t>to</a:t>
            </a:r>
            <a:r>
              <a:rPr lang="en-US" u="sng" dirty="0">
                <a:effectLst/>
                <a:latin typeface="Maven Pro" pitchFamily="2" charset="0"/>
              </a:rPr>
              <a:t> </a:t>
            </a:r>
            <a:endParaRPr lang="en-US" u="sng" dirty="0" smtClean="0">
              <a:effectLst/>
              <a:latin typeface="Maven Pro" pitchFamily="2" charset="0"/>
            </a:endParaRPr>
          </a:p>
          <a:p>
            <a:pPr algn="ctr"/>
            <a:endParaRPr lang="en-US" u="sng" dirty="0">
              <a:effectLst/>
              <a:latin typeface="Maven Pro" pitchFamily="2" charset="0"/>
            </a:endParaRPr>
          </a:p>
          <a:p>
            <a:pPr algn="ctr"/>
            <a:r>
              <a:rPr lang="en-US" sz="2000" i="0" dirty="0" err="1">
                <a:effectLst/>
                <a:latin typeface="Maven Pro" pitchFamily="2" charset="0"/>
              </a:rPr>
              <a:t>Kingshuk</a:t>
            </a:r>
            <a:r>
              <a:rPr lang="en-US" sz="2000" i="0" dirty="0">
                <a:effectLst/>
                <a:latin typeface="Maven Pro" pitchFamily="2" charset="0"/>
              </a:rPr>
              <a:t> Dhar</a:t>
            </a:r>
          </a:p>
          <a:p>
            <a:pPr algn="ctr"/>
            <a:r>
              <a:rPr lang="en-US" sz="2000" i="0" dirty="0">
                <a:effectLst/>
                <a:latin typeface="Maven Pro" pitchFamily="2" charset="0"/>
              </a:rPr>
              <a:t>Assistant Professor</a:t>
            </a:r>
          </a:p>
          <a:p>
            <a:pPr algn="ctr"/>
            <a:r>
              <a:rPr lang="en-US" sz="2000" i="0" dirty="0">
                <a:effectLst/>
                <a:latin typeface="Maven Pro" pitchFamily="2" charset="0"/>
              </a:rPr>
              <a:t>Department of Computer Science &amp; Engineering</a:t>
            </a:r>
            <a:r>
              <a:rPr lang="en-US" sz="2000" i="0" dirty="0" smtClean="0">
                <a:effectLst/>
                <a:latin typeface="Maven Pro" pitchFamily="2" charset="0"/>
              </a:rPr>
              <a:t>.</a:t>
            </a:r>
          </a:p>
          <a:p>
            <a:pPr algn="ctr"/>
            <a:endParaRPr lang="en-US" sz="2000" dirty="0">
              <a:latin typeface="Maven Pro" pitchFamily="2" charset="0"/>
            </a:endParaRPr>
          </a:p>
          <a:p>
            <a:pPr algn="ctr"/>
            <a:r>
              <a:rPr lang="en-US" sz="2000" u="sng" dirty="0" smtClean="0">
                <a:latin typeface="Maven Pro" pitchFamily="2" charset="0"/>
              </a:rPr>
              <a:t>Submitted By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D1F1240-B02E-4391-8A31-43BC8CEEF118}"/>
              </a:ext>
            </a:extLst>
          </p:cNvPr>
          <p:cNvSpPr txBox="1"/>
          <p:nvPr/>
        </p:nvSpPr>
        <p:spPr>
          <a:xfrm>
            <a:off x="-60021" y="5514369"/>
            <a:ext cx="3226245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600" dirty="0" smtClean="0"/>
          </a:p>
          <a:p>
            <a:pPr algn="ctr"/>
            <a:r>
              <a:rPr lang="en-US" b="0" i="0" dirty="0" smtClean="0">
                <a:effectLst/>
                <a:latin typeface="Maven Pro" pitchFamily="2" charset="0"/>
              </a:rPr>
              <a:t>K.M. </a:t>
            </a:r>
            <a:r>
              <a:rPr lang="en-US" b="0" i="0" dirty="0" err="1" smtClean="0">
                <a:effectLst/>
                <a:latin typeface="Maven Pro" pitchFamily="2" charset="0"/>
              </a:rPr>
              <a:t>Naimuddin</a:t>
            </a:r>
            <a:endParaRPr lang="en-US" b="0" i="0" dirty="0">
              <a:effectLst/>
              <a:latin typeface="Maven Pro" pitchFamily="2" charset="0"/>
            </a:endParaRPr>
          </a:p>
          <a:p>
            <a:pPr algn="ctr"/>
            <a:r>
              <a:rPr lang="en-US" dirty="0" smtClean="0">
                <a:latin typeface="Maven Pro" pitchFamily="2" charset="0"/>
              </a:rPr>
              <a:t>1803510201621</a:t>
            </a:r>
            <a:endParaRPr lang="en-US" dirty="0">
              <a:latin typeface="Maven Pro" pitchFamily="2" charset="0"/>
            </a:endParaRP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0CFBDE98-8073-4247-B401-180224025C05}"/>
              </a:ext>
            </a:extLst>
          </p:cNvPr>
          <p:cNvCxnSpPr>
            <a:cxnSpLocks/>
          </p:cNvCxnSpPr>
          <p:nvPr/>
        </p:nvCxnSpPr>
        <p:spPr>
          <a:xfrm rot="16200000" flipH="1">
            <a:off x="2265832" y="6071347"/>
            <a:ext cx="1062315" cy="2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9690D547-E5E8-4969-9A25-AD9EF69D1EF2}"/>
              </a:ext>
            </a:extLst>
          </p:cNvPr>
          <p:cNvSpPr txBox="1"/>
          <p:nvPr/>
        </p:nvSpPr>
        <p:spPr>
          <a:xfrm>
            <a:off x="3052483" y="5756414"/>
            <a:ext cx="26579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smtClean="0">
                <a:latin typeface="Maven Pro" pitchFamily="2" charset="0"/>
              </a:rPr>
              <a:t>Sajjad </a:t>
            </a:r>
            <a:r>
              <a:rPr lang="en-US" dirty="0" err="1" smtClean="0">
                <a:latin typeface="Maven Pro" pitchFamily="2" charset="0"/>
              </a:rPr>
              <a:t>Hossain</a:t>
            </a:r>
            <a:r>
              <a:rPr lang="en-US" dirty="0" smtClean="0">
                <a:latin typeface="Maven Pro" pitchFamily="2" charset="0"/>
              </a:rPr>
              <a:t> Talukder </a:t>
            </a:r>
          </a:p>
          <a:p>
            <a:pPr algn="ctr"/>
            <a:r>
              <a:rPr lang="en-US" dirty="0" smtClean="0">
                <a:latin typeface="Maven Pro" pitchFamily="2" charset="0"/>
              </a:rPr>
              <a:t>1803510201623</a:t>
            </a:r>
            <a:endParaRPr lang="en-US" dirty="0">
              <a:latin typeface="Maven Pro" pitchFamily="2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F2CFF9C-A8AF-48C6-83B3-ED0146DA6C30}"/>
              </a:ext>
            </a:extLst>
          </p:cNvPr>
          <p:cNvSpPr txBox="1"/>
          <p:nvPr/>
        </p:nvSpPr>
        <p:spPr>
          <a:xfrm>
            <a:off x="6180076" y="5742967"/>
            <a:ext cx="21614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 smtClean="0">
                <a:latin typeface="Maven Pro" pitchFamily="2" charset="0"/>
              </a:rPr>
              <a:t>Rakibur</a:t>
            </a:r>
            <a:r>
              <a:rPr lang="en-US" dirty="0" smtClean="0">
                <a:latin typeface="Maven Pro" pitchFamily="2" charset="0"/>
              </a:rPr>
              <a:t> </a:t>
            </a:r>
            <a:r>
              <a:rPr lang="en-US" dirty="0" err="1" smtClean="0">
                <a:latin typeface="Maven Pro" pitchFamily="2" charset="0"/>
              </a:rPr>
              <a:t>Rahman</a:t>
            </a:r>
            <a:endParaRPr lang="en-US" dirty="0" smtClean="0">
              <a:latin typeface="Maven Pro" pitchFamily="2" charset="0"/>
            </a:endParaRPr>
          </a:p>
          <a:p>
            <a:pPr algn="ctr"/>
            <a:r>
              <a:rPr lang="en-US" dirty="0" smtClean="0">
                <a:latin typeface="Maven Pro" pitchFamily="2" charset="0"/>
              </a:rPr>
              <a:t>1803510201638</a:t>
            </a:r>
            <a:endParaRPr lang="en-US" dirty="0">
              <a:latin typeface="Maven Pro" pitchFamily="2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9710" y="162980"/>
            <a:ext cx="1251914" cy="942752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CFBDE98-8073-4247-B401-180224025C05}"/>
              </a:ext>
            </a:extLst>
          </p:cNvPr>
          <p:cNvCxnSpPr>
            <a:cxnSpLocks/>
          </p:cNvCxnSpPr>
          <p:nvPr/>
        </p:nvCxnSpPr>
        <p:spPr>
          <a:xfrm rot="16200000" flipH="1">
            <a:off x="5470715" y="6075830"/>
            <a:ext cx="1062315" cy="2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7D1F1240-B02E-4391-8A31-43BC8CEEF118}"/>
              </a:ext>
            </a:extLst>
          </p:cNvPr>
          <p:cNvSpPr txBox="1"/>
          <p:nvPr/>
        </p:nvSpPr>
        <p:spPr>
          <a:xfrm>
            <a:off x="2729753" y="1901592"/>
            <a:ext cx="32262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smtClean="0"/>
              <a:t>Project Presentation On </a:t>
            </a:r>
            <a:endParaRPr lang="en-US" sz="2800" dirty="0">
              <a:latin typeface="Maven Pr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4355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38" grpId="0"/>
      <p:bldP spid="54" grpId="0"/>
      <p:bldP spid="57" grpId="0"/>
      <p:bldP spid="34" grpId="0"/>
      <p:bldP spid="2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A496CE44-7FD9-48FF-89D1-E8B659079234}"/>
              </a:ext>
            </a:extLst>
          </p:cNvPr>
          <p:cNvSpPr/>
          <p:nvPr/>
        </p:nvSpPr>
        <p:spPr>
          <a:xfrm>
            <a:off x="82856" y="0"/>
            <a:ext cx="12182331" cy="6858000"/>
          </a:xfrm>
          <a:prstGeom prst="roundRect">
            <a:avLst>
              <a:gd name="adj" fmla="val 1788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127000" dist="76200" dir="10800000" sx="101000" sy="101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cxnSp>
        <p:nvCxnSpPr>
          <p:cNvPr id="28" name="1Straight Connector">
            <a:extLst>
              <a:ext uri="{FF2B5EF4-FFF2-40B4-BE49-F238E27FC236}">
                <a16:creationId xmlns:a16="http://schemas.microsoft.com/office/drawing/2014/main" id="{D59E6565-C9FA-4794-A440-0358FD2EDAEF}"/>
              </a:ext>
            </a:extLst>
          </p:cNvPr>
          <p:cNvCxnSpPr>
            <a:cxnSpLocks/>
          </p:cNvCxnSpPr>
          <p:nvPr/>
        </p:nvCxnSpPr>
        <p:spPr>
          <a:xfrm>
            <a:off x="332157" y="875288"/>
            <a:ext cx="12192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DA065773-9CB0-4F27-B751-4A37DE4B151B}"/>
              </a:ext>
            </a:extLst>
          </p:cNvPr>
          <p:cNvSpPr/>
          <p:nvPr/>
        </p:nvSpPr>
        <p:spPr>
          <a:xfrm>
            <a:off x="5481386" y="7192654"/>
            <a:ext cx="333594" cy="286604"/>
          </a:xfrm>
          <a:prstGeom prst="rect">
            <a:avLst/>
          </a:prstGeom>
          <a:solidFill>
            <a:srgbClr val="B272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E2C4A4-95C8-4BF8-AAB0-95B3118D994D}"/>
              </a:ext>
            </a:extLst>
          </p:cNvPr>
          <p:cNvSpPr/>
          <p:nvPr/>
        </p:nvSpPr>
        <p:spPr>
          <a:xfrm>
            <a:off x="4955547" y="7192654"/>
            <a:ext cx="333594" cy="286604"/>
          </a:xfrm>
          <a:prstGeom prst="rect">
            <a:avLst/>
          </a:prstGeom>
          <a:solidFill>
            <a:srgbClr val="3737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CB57BC-A4ED-4A42-8824-367ADB0DF803}"/>
              </a:ext>
            </a:extLst>
          </p:cNvPr>
          <p:cNvSpPr/>
          <p:nvPr/>
        </p:nvSpPr>
        <p:spPr>
          <a:xfrm>
            <a:off x="6699861" y="7192654"/>
            <a:ext cx="333594" cy="286604"/>
          </a:xfrm>
          <a:prstGeom prst="rect">
            <a:avLst/>
          </a:prstGeom>
          <a:solidFill>
            <a:srgbClr val="0F30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CE30460-38B3-475A-A2B7-B0914C420235}"/>
              </a:ext>
            </a:extLst>
          </p:cNvPr>
          <p:cNvSpPr/>
          <p:nvPr/>
        </p:nvSpPr>
        <p:spPr>
          <a:xfrm>
            <a:off x="6007225" y="7192654"/>
            <a:ext cx="333594" cy="286604"/>
          </a:xfrm>
          <a:prstGeom prst="rect">
            <a:avLst/>
          </a:prstGeom>
          <a:solidFill>
            <a:srgbClr val="C824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2D5E41-A6BE-4845-90C2-A7FC659F12B5}"/>
              </a:ext>
            </a:extLst>
          </p:cNvPr>
          <p:cNvSpPr/>
          <p:nvPr/>
        </p:nvSpPr>
        <p:spPr>
          <a:xfrm>
            <a:off x="7260349" y="7192654"/>
            <a:ext cx="333594" cy="286604"/>
          </a:xfrm>
          <a:prstGeom prst="rect">
            <a:avLst/>
          </a:prstGeom>
          <a:solidFill>
            <a:srgbClr val="F2E5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DE26FAFE-F05E-4B64-AD03-0290DF9A20B8}"/>
              </a:ext>
            </a:extLst>
          </p:cNvPr>
          <p:cNvSpPr/>
          <p:nvPr/>
        </p:nvSpPr>
        <p:spPr>
          <a:xfrm>
            <a:off x="8968616" y="0"/>
            <a:ext cx="12182330" cy="6858000"/>
          </a:xfrm>
          <a:prstGeom prst="roundRect">
            <a:avLst>
              <a:gd name="adj" fmla="val 2367"/>
            </a:avLst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127000" dist="76200" dir="10800000" sx="101000" sy="101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F1EA363D-BF3D-4981-BF93-2C7755BC7668}"/>
              </a:ext>
            </a:extLst>
          </p:cNvPr>
          <p:cNvSpPr/>
          <p:nvPr/>
        </p:nvSpPr>
        <p:spPr>
          <a:xfrm>
            <a:off x="9595693" y="0"/>
            <a:ext cx="12182331" cy="6858000"/>
          </a:xfrm>
          <a:prstGeom prst="roundRect">
            <a:avLst>
              <a:gd name="adj" fmla="val 2174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27000" dist="76200" dir="10800000" sx="101000" sy="101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D68A4F18-CB86-4BDC-8E76-D3601D94C91D}"/>
              </a:ext>
            </a:extLst>
          </p:cNvPr>
          <p:cNvSpPr/>
          <p:nvPr/>
        </p:nvSpPr>
        <p:spPr>
          <a:xfrm>
            <a:off x="10250266" y="0"/>
            <a:ext cx="12182330" cy="6858000"/>
          </a:xfrm>
          <a:prstGeom prst="roundRect">
            <a:avLst>
              <a:gd name="adj" fmla="val 1015"/>
            </a:avLst>
          </a:prstGeom>
          <a:solidFill>
            <a:srgbClr val="0F3041"/>
          </a:solidFill>
          <a:ln>
            <a:noFill/>
          </a:ln>
          <a:effectLst>
            <a:outerShdw blurRad="127000" dist="76200" dir="10800000" sx="101000" sy="101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BEA104E5-B538-413B-A27D-447E7819706F}"/>
              </a:ext>
            </a:extLst>
          </p:cNvPr>
          <p:cNvSpPr/>
          <p:nvPr/>
        </p:nvSpPr>
        <p:spPr>
          <a:xfrm>
            <a:off x="11070029" y="0"/>
            <a:ext cx="12182331" cy="6858000"/>
          </a:xfrm>
          <a:prstGeom prst="roundRect">
            <a:avLst>
              <a:gd name="adj" fmla="val 1595"/>
            </a:avLst>
          </a:prstGeom>
          <a:solidFill>
            <a:srgbClr val="F2E5B9"/>
          </a:solidFill>
          <a:ln>
            <a:noFill/>
          </a:ln>
          <a:effectLst>
            <a:outerShdw blurRad="127000" dist="76200" dir="10800000" sx="101000" sy="101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26" name="1TextBox">
            <a:extLst>
              <a:ext uri="{FF2B5EF4-FFF2-40B4-BE49-F238E27FC236}">
                <a16:creationId xmlns:a16="http://schemas.microsoft.com/office/drawing/2014/main" id="{040704CC-BB1F-4FB0-8BA4-12944D2E22AE}"/>
              </a:ext>
            </a:extLst>
          </p:cNvPr>
          <p:cNvSpPr txBox="1"/>
          <p:nvPr/>
        </p:nvSpPr>
        <p:spPr>
          <a:xfrm>
            <a:off x="2823645" y="2025997"/>
            <a:ext cx="738784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IN" sz="2800" dirty="0"/>
              <a:t>Introduction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IN" sz="2800" dirty="0"/>
              <a:t>Equipment’s </a:t>
            </a:r>
            <a:endParaRPr lang="en-IN" sz="2800" dirty="0" smtClean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IN" sz="2800" dirty="0" smtClean="0"/>
              <a:t>Working Procedure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IN" sz="2800" dirty="0" smtClean="0"/>
              <a:t>Circuit Design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IN" sz="2800" dirty="0" smtClean="0"/>
              <a:t>Simulation Video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IN" sz="2800" dirty="0" smtClean="0"/>
              <a:t>Advantages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IN" sz="2800" dirty="0" smtClean="0"/>
              <a:t>Applications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IN" sz="2800" dirty="0" smtClean="0"/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IN" sz="2800" dirty="0"/>
          </a:p>
        </p:txBody>
      </p:sp>
      <p:sp>
        <p:nvSpPr>
          <p:cNvPr id="27" name="1Title">
            <a:extLst>
              <a:ext uri="{FF2B5EF4-FFF2-40B4-BE49-F238E27FC236}">
                <a16:creationId xmlns:a16="http://schemas.microsoft.com/office/drawing/2014/main" id="{45653984-5013-4A0E-896F-811AE6F182FD}"/>
              </a:ext>
            </a:extLst>
          </p:cNvPr>
          <p:cNvSpPr txBox="1"/>
          <p:nvPr/>
        </p:nvSpPr>
        <p:spPr>
          <a:xfrm>
            <a:off x="941412" y="-107951"/>
            <a:ext cx="37909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200" b="1" dirty="0"/>
              <a:t>Content</a:t>
            </a:r>
            <a:endParaRPr lang="en-IN" sz="4200" b="1" dirty="0"/>
          </a:p>
        </p:txBody>
      </p:sp>
      <p:sp>
        <p:nvSpPr>
          <p:cNvPr id="30" name="1Subititle">
            <a:extLst>
              <a:ext uri="{FF2B5EF4-FFF2-40B4-BE49-F238E27FC236}">
                <a16:creationId xmlns:a16="http://schemas.microsoft.com/office/drawing/2014/main" id="{7E31FDBB-4182-48B5-B5E3-00EEABB60B69}"/>
              </a:ext>
            </a:extLst>
          </p:cNvPr>
          <p:cNvSpPr txBox="1"/>
          <p:nvPr/>
        </p:nvSpPr>
        <p:spPr>
          <a:xfrm>
            <a:off x="941413" y="505956"/>
            <a:ext cx="4256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Here is our contents.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BFD8B8-4AEE-47E9-8E3A-7A780E6A6E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8848" y="1244620"/>
            <a:ext cx="812415" cy="812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2708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41">
            <a:extLst>
              <a:ext uri="{FF2B5EF4-FFF2-40B4-BE49-F238E27FC236}">
                <a16:creationId xmlns:a16="http://schemas.microsoft.com/office/drawing/2014/main" id="{9A9867F0-101B-4D02-967B-B5AA96F2DD93}"/>
              </a:ext>
            </a:extLst>
          </p:cNvPr>
          <p:cNvSpPr txBox="1"/>
          <p:nvPr/>
        </p:nvSpPr>
        <p:spPr>
          <a:xfrm>
            <a:off x="645420" y="1927521"/>
            <a:ext cx="371487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0F304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Business Presentation</a:t>
            </a:r>
            <a:endParaRPr lang="en-IN" sz="4800" dirty="0">
              <a:solidFill>
                <a:srgbClr val="0F304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98" name="Graphic 97" descr="Presentation with pie chart">
            <a:extLst>
              <a:ext uri="{FF2B5EF4-FFF2-40B4-BE49-F238E27FC236}">
                <a16:creationId xmlns:a16="http://schemas.microsoft.com/office/drawing/2014/main" id="{DEC24B35-08EC-4D29-AB9E-02E688BAA8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645419" y="4075330"/>
            <a:ext cx="1680685" cy="1680685"/>
          </a:xfrm>
          <a:prstGeom prst="rect">
            <a:avLst/>
          </a:prstGeom>
        </p:spPr>
      </p:pic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A496CE44-7FD9-48FF-89D1-E8B659079234}"/>
              </a:ext>
            </a:extLst>
          </p:cNvPr>
          <p:cNvSpPr/>
          <p:nvPr/>
        </p:nvSpPr>
        <p:spPr>
          <a:xfrm>
            <a:off x="305940" y="24578"/>
            <a:ext cx="12182331" cy="6858000"/>
          </a:xfrm>
          <a:prstGeom prst="roundRect">
            <a:avLst>
              <a:gd name="adj" fmla="val 1401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127000" dist="76200" dir="10800000" sx="101000" sy="101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cxnSp>
        <p:nvCxnSpPr>
          <p:cNvPr id="28" name="1Straight Connector">
            <a:extLst>
              <a:ext uri="{FF2B5EF4-FFF2-40B4-BE49-F238E27FC236}">
                <a16:creationId xmlns:a16="http://schemas.microsoft.com/office/drawing/2014/main" id="{D59E6565-C9FA-4794-A440-0358FD2EDAEF}"/>
              </a:ext>
            </a:extLst>
          </p:cNvPr>
          <p:cNvCxnSpPr>
            <a:cxnSpLocks/>
          </p:cNvCxnSpPr>
          <p:nvPr/>
        </p:nvCxnSpPr>
        <p:spPr>
          <a:xfrm>
            <a:off x="332157" y="875288"/>
            <a:ext cx="12192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DA065773-9CB0-4F27-B751-4A37DE4B151B}"/>
              </a:ext>
            </a:extLst>
          </p:cNvPr>
          <p:cNvSpPr/>
          <p:nvPr/>
        </p:nvSpPr>
        <p:spPr>
          <a:xfrm>
            <a:off x="5481386" y="7192654"/>
            <a:ext cx="333594" cy="286604"/>
          </a:xfrm>
          <a:prstGeom prst="rect">
            <a:avLst/>
          </a:prstGeom>
          <a:solidFill>
            <a:srgbClr val="B272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E2C4A4-95C8-4BF8-AAB0-95B3118D994D}"/>
              </a:ext>
            </a:extLst>
          </p:cNvPr>
          <p:cNvSpPr/>
          <p:nvPr/>
        </p:nvSpPr>
        <p:spPr>
          <a:xfrm>
            <a:off x="4955547" y="7192654"/>
            <a:ext cx="333594" cy="286604"/>
          </a:xfrm>
          <a:prstGeom prst="rect">
            <a:avLst/>
          </a:prstGeom>
          <a:solidFill>
            <a:srgbClr val="3737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CB57BC-A4ED-4A42-8824-367ADB0DF803}"/>
              </a:ext>
            </a:extLst>
          </p:cNvPr>
          <p:cNvSpPr/>
          <p:nvPr/>
        </p:nvSpPr>
        <p:spPr>
          <a:xfrm>
            <a:off x="6699861" y="7192654"/>
            <a:ext cx="333594" cy="286604"/>
          </a:xfrm>
          <a:prstGeom prst="rect">
            <a:avLst/>
          </a:prstGeom>
          <a:solidFill>
            <a:srgbClr val="0F30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CE30460-38B3-475A-A2B7-B0914C420235}"/>
              </a:ext>
            </a:extLst>
          </p:cNvPr>
          <p:cNvSpPr/>
          <p:nvPr/>
        </p:nvSpPr>
        <p:spPr>
          <a:xfrm>
            <a:off x="6007225" y="7192654"/>
            <a:ext cx="333594" cy="286604"/>
          </a:xfrm>
          <a:prstGeom prst="rect">
            <a:avLst/>
          </a:prstGeom>
          <a:solidFill>
            <a:srgbClr val="C824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2D5E41-A6BE-4845-90C2-A7FC659F12B5}"/>
              </a:ext>
            </a:extLst>
          </p:cNvPr>
          <p:cNvSpPr/>
          <p:nvPr/>
        </p:nvSpPr>
        <p:spPr>
          <a:xfrm>
            <a:off x="7260349" y="7192654"/>
            <a:ext cx="333594" cy="286604"/>
          </a:xfrm>
          <a:prstGeom prst="rect">
            <a:avLst/>
          </a:prstGeom>
          <a:solidFill>
            <a:srgbClr val="F2E5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DE26FAFE-F05E-4B64-AD03-0290DF9A20B8}"/>
              </a:ext>
            </a:extLst>
          </p:cNvPr>
          <p:cNvSpPr/>
          <p:nvPr/>
        </p:nvSpPr>
        <p:spPr>
          <a:xfrm>
            <a:off x="751709" y="24578"/>
            <a:ext cx="12182330" cy="6858000"/>
          </a:xfrm>
          <a:prstGeom prst="roundRect">
            <a:avLst>
              <a:gd name="adj" fmla="val 1788"/>
            </a:avLst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127000" dist="76200" dir="10800000" sx="101000" sy="101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2Title">
            <a:extLst>
              <a:ext uri="{FF2B5EF4-FFF2-40B4-BE49-F238E27FC236}">
                <a16:creationId xmlns:a16="http://schemas.microsoft.com/office/drawing/2014/main" id="{4BE4CE83-046D-40D1-AD7A-B0389E1A9072}"/>
              </a:ext>
            </a:extLst>
          </p:cNvPr>
          <p:cNvSpPr txBox="1"/>
          <p:nvPr/>
        </p:nvSpPr>
        <p:spPr>
          <a:xfrm>
            <a:off x="1631397" y="-107951"/>
            <a:ext cx="37909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  <a:endParaRPr kumimoji="0" lang="en-IN" sz="4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4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2TextBox">
            <a:extLst>
              <a:ext uri="{FF2B5EF4-FFF2-40B4-BE49-F238E27FC236}">
                <a16:creationId xmlns:a16="http://schemas.microsoft.com/office/drawing/2014/main" id="{59D6579B-3D56-4DAD-A137-8041A2D800DC}"/>
              </a:ext>
            </a:extLst>
          </p:cNvPr>
          <p:cNvSpPr txBox="1"/>
          <p:nvPr/>
        </p:nvSpPr>
        <p:spPr>
          <a:xfrm>
            <a:off x="1631397" y="505956"/>
            <a:ext cx="6250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Some Information about our project.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5" name="2Straight Connector">
            <a:extLst>
              <a:ext uri="{FF2B5EF4-FFF2-40B4-BE49-F238E27FC236}">
                <a16:creationId xmlns:a16="http://schemas.microsoft.com/office/drawing/2014/main" id="{8C9EB5B4-7924-493B-BEF7-8953DDEE34CE}"/>
              </a:ext>
            </a:extLst>
          </p:cNvPr>
          <p:cNvCxnSpPr>
            <a:cxnSpLocks/>
          </p:cNvCxnSpPr>
          <p:nvPr/>
        </p:nvCxnSpPr>
        <p:spPr>
          <a:xfrm>
            <a:off x="994551" y="875288"/>
            <a:ext cx="12192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F1EA363D-BF3D-4981-BF93-2C7755BC7668}"/>
              </a:ext>
            </a:extLst>
          </p:cNvPr>
          <p:cNvSpPr/>
          <p:nvPr/>
        </p:nvSpPr>
        <p:spPr>
          <a:xfrm>
            <a:off x="9595693" y="0"/>
            <a:ext cx="12182331" cy="6858000"/>
          </a:xfrm>
          <a:prstGeom prst="roundRect">
            <a:avLst>
              <a:gd name="adj" fmla="val 2561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27000" dist="76200" dir="10800000" sx="101000" sy="101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D68A4F18-CB86-4BDC-8E76-D3601D94C91D}"/>
              </a:ext>
            </a:extLst>
          </p:cNvPr>
          <p:cNvSpPr/>
          <p:nvPr/>
        </p:nvSpPr>
        <p:spPr>
          <a:xfrm>
            <a:off x="10250266" y="0"/>
            <a:ext cx="12182330" cy="6858000"/>
          </a:xfrm>
          <a:prstGeom prst="roundRect">
            <a:avLst>
              <a:gd name="adj" fmla="val 1401"/>
            </a:avLst>
          </a:prstGeom>
          <a:solidFill>
            <a:srgbClr val="0F3041"/>
          </a:solidFill>
          <a:ln>
            <a:noFill/>
          </a:ln>
          <a:effectLst>
            <a:outerShdw blurRad="127000" dist="76200" dir="10800000" sx="101000" sy="101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BEA104E5-B538-413B-A27D-447E7819706F}"/>
              </a:ext>
            </a:extLst>
          </p:cNvPr>
          <p:cNvSpPr/>
          <p:nvPr/>
        </p:nvSpPr>
        <p:spPr>
          <a:xfrm>
            <a:off x="11070029" y="0"/>
            <a:ext cx="12182331" cy="6858000"/>
          </a:xfrm>
          <a:prstGeom prst="roundRect">
            <a:avLst>
              <a:gd name="adj" fmla="val 2174"/>
            </a:avLst>
          </a:prstGeom>
          <a:solidFill>
            <a:srgbClr val="F2E5B9"/>
          </a:solidFill>
          <a:ln>
            <a:noFill/>
          </a:ln>
          <a:effectLst>
            <a:outerShdw blurRad="127000" dist="76200" dir="10800000" sx="101000" sy="101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36" name="1TextBox">
            <a:extLst>
              <a:ext uri="{FF2B5EF4-FFF2-40B4-BE49-F238E27FC236}">
                <a16:creationId xmlns:a16="http://schemas.microsoft.com/office/drawing/2014/main" id="{C9C473B9-C3A3-4883-A9D7-5DDB8C374879}"/>
              </a:ext>
            </a:extLst>
          </p:cNvPr>
          <p:cNvSpPr txBox="1"/>
          <p:nvPr/>
        </p:nvSpPr>
        <p:spPr>
          <a:xfrm>
            <a:off x="1801906" y="1916356"/>
            <a:ext cx="7234517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5080" algn="just">
              <a:lnSpc>
                <a:spcPct val="107300"/>
              </a:lnSpc>
              <a:spcBef>
                <a:spcPts val="30"/>
              </a:spcBef>
            </a:pPr>
            <a:r>
              <a:rPr lang="en-US" sz="2000" spc="145" dirty="0">
                <a:solidFill>
                  <a:schemeClr val="bg2"/>
                </a:solidFill>
                <a:latin typeface="Maven Pro" pitchFamily="2" charset="0"/>
                <a:cs typeface="Verdana"/>
              </a:rPr>
              <a:t>Obstacle Avoiding System using Ultrasonic Sensor is an intelligent device which can automatically sense the obstacle in front of it and avoid them by turning itself. </a:t>
            </a:r>
          </a:p>
          <a:p>
            <a:pPr marL="12700" marR="5080" algn="just">
              <a:lnSpc>
                <a:spcPct val="107300"/>
              </a:lnSpc>
              <a:spcBef>
                <a:spcPts val="30"/>
              </a:spcBef>
            </a:pPr>
            <a:endParaRPr lang="en-US" sz="2000" spc="145" dirty="0">
              <a:solidFill>
                <a:schemeClr val="bg2"/>
              </a:solidFill>
              <a:latin typeface="Maven Pro" pitchFamily="2" charset="0"/>
              <a:cs typeface="Verdana"/>
            </a:endParaRPr>
          </a:p>
          <a:p>
            <a:pPr algn="just"/>
            <a:r>
              <a:rPr lang="en-US" sz="2000" dirty="0" smtClean="0">
                <a:solidFill>
                  <a:schemeClr val="bg1"/>
                </a:solidFill>
                <a:latin typeface="Maven Pro" pitchFamily="2" charset="0"/>
              </a:rPr>
              <a:t>It   is capable of moving on its own in an unknown and unstructured environment. </a:t>
            </a:r>
          </a:p>
          <a:p>
            <a:pPr algn="just"/>
            <a:endParaRPr lang="en-US" sz="2000" dirty="0" smtClean="0">
              <a:solidFill>
                <a:schemeClr val="bg1"/>
              </a:solidFill>
              <a:latin typeface="Maven Pro" pitchFamily="2" charset="0"/>
            </a:endParaRPr>
          </a:p>
          <a:p>
            <a:pPr algn="just"/>
            <a:r>
              <a:rPr lang="en-US" sz="2000" dirty="0" smtClean="0">
                <a:solidFill>
                  <a:schemeClr val="bg1"/>
                </a:solidFill>
                <a:latin typeface="Maven Pro" pitchFamily="2" charset="0"/>
              </a:rPr>
              <a:t>This system is equipped with software intelligence to sense its environment, detect obstacles in its path and move around an unknown environment overcoming the obstacles. </a:t>
            </a:r>
          </a:p>
          <a:p>
            <a:r>
              <a:rPr lang="en-US" sz="2000" dirty="0" smtClean="0">
                <a:latin typeface="Maven Pro" pitchFamily="2" charset="0"/>
              </a:rPr>
              <a:t/>
            </a:r>
            <a:br>
              <a:rPr lang="en-US" sz="2000" dirty="0" smtClean="0">
                <a:latin typeface="Maven Pro" pitchFamily="2" charset="0"/>
              </a:rPr>
            </a:br>
            <a:endParaRPr lang="en-US" sz="2000" spc="145" dirty="0">
              <a:solidFill>
                <a:schemeClr val="bg2"/>
              </a:solidFill>
              <a:latin typeface="Maven Pro" pitchFamily="2" charset="0"/>
              <a:cs typeface="Verdana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52B7A889-1840-4316-836B-38479F354A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618" y="1373813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4239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41">
            <a:extLst>
              <a:ext uri="{FF2B5EF4-FFF2-40B4-BE49-F238E27FC236}">
                <a16:creationId xmlns:a16="http://schemas.microsoft.com/office/drawing/2014/main" id="{9A9867F0-101B-4D02-967B-B5AA96F2DD93}"/>
              </a:ext>
            </a:extLst>
          </p:cNvPr>
          <p:cNvSpPr txBox="1"/>
          <p:nvPr/>
        </p:nvSpPr>
        <p:spPr>
          <a:xfrm>
            <a:off x="645420" y="1927521"/>
            <a:ext cx="371487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0F304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Business Presentation</a:t>
            </a:r>
            <a:endParaRPr lang="en-IN" sz="4800" dirty="0">
              <a:solidFill>
                <a:srgbClr val="0F304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98" name="Graphic 97" descr="Presentation with pie chart">
            <a:extLst>
              <a:ext uri="{FF2B5EF4-FFF2-40B4-BE49-F238E27FC236}">
                <a16:creationId xmlns:a16="http://schemas.microsoft.com/office/drawing/2014/main" id="{DEC24B35-08EC-4D29-AB9E-02E688BAA8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645419" y="4075330"/>
            <a:ext cx="1680685" cy="1680685"/>
          </a:xfrm>
          <a:prstGeom prst="rect">
            <a:avLst/>
          </a:prstGeom>
        </p:spPr>
      </p:pic>
      <p:cxnSp>
        <p:nvCxnSpPr>
          <p:cNvPr id="28" name="1Straight Connector">
            <a:extLst>
              <a:ext uri="{FF2B5EF4-FFF2-40B4-BE49-F238E27FC236}">
                <a16:creationId xmlns:a16="http://schemas.microsoft.com/office/drawing/2014/main" id="{D59E6565-C9FA-4794-A440-0358FD2EDAEF}"/>
              </a:ext>
            </a:extLst>
          </p:cNvPr>
          <p:cNvCxnSpPr>
            <a:cxnSpLocks/>
          </p:cNvCxnSpPr>
          <p:nvPr/>
        </p:nvCxnSpPr>
        <p:spPr>
          <a:xfrm>
            <a:off x="332157" y="875288"/>
            <a:ext cx="12192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DA065773-9CB0-4F27-B751-4A37DE4B151B}"/>
              </a:ext>
            </a:extLst>
          </p:cNvPr>
          <p:cNvSpPr/>
          <p:nvPr/>
        </p:nvSpPr>
        <p:spPr>
          <a:xfrm>
            <a:off x="5481386" y="7192654"/>
            <a:ext cx="333594" cy="286604"/>
          </a:xfrm>
          <a:prstGeom prst="rect">
            <a:avLst/>
          </a:prstGeom>
          <a:solidFill>
            <a:srgbClr val="B272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E2C4A4-95C8-4BF8-AAB0-95B3118D994D}"/>
              </a:ext>
            </a:extLst>
          </p:cNvPr>
          <p:cNvSpPr/>
          <p:nvPr/>
        </p:nvSpPr>
        <p:spPr>
          <a:xfrm>
            <a:off x="4955547" y="7192654"/>
            <a:ext cx="333594" cy="286604"/>
          </a:xfrm>
          <a:prstGeom prst="rect">
            <a:avLst/>
          </a:prstGeom>
          <a:solidFill>
            <a:srgbClr val="3737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CB57BC-A4ED-4A42-8824-367ADB0DF803}"/>
              </a:ext>
            </a:extLst>
          </p:cNvPr>
          <p:cNvSpPr/>
          <p:nvPr/>
        </p:nvSpPr>
        <p:spPr>
          <a:xfrm>
            <a:off x="6699861" y="7192654"/>
            <a:ext cx="333594" cy="286604"/>
          </a:xfrm>
          <a:prstGeom prst="rect">
            <a:avLst/>
          </a:prstGeom>
          <a:solidFill>
            <a:srgbClr val="0F30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CE30460-38B3-475A-A2B7-B0914C420235}"/>
              </a:ext>
            </a:extLst>
          </p:cNvPr>
          <p:cNvSpPr/>
          <p:nvPr/>
        </p:nvSpPr>
        <p:spPr>
          <a:xfrm>
            <a:off x="6007225" y="7192654"/>
            <a:ext cx="333594" cy="286604"/>
          </a:xfrm>
          <a:prstGeom prst="rect">
            <a:avLst/>
          </a:prstGeom>
          <a:solidFill>
            <a:srgbClr val="C824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A496CE44-7FD9-48FF-89D1-E8B659079234}"/>
              </a:ext>
            </a:extLst>
          </p:cNvPr>
          <p:cNvSpPr/>
          <p:nvPr/>
        </p:nvSpPr>
        <p:spPr>
          <a:xfrm>
            <a:off x="282393" y="0"/>
            <a:ext cx="12182331" cy="6858000"/>
          </a:xfrm>
          <a:prstGeom prst="roundRect">
            <a:avLst>
              <a:gd name="adj" fmla="val 1401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127000" dist="76200" dir="10800000" sx="101000" sy="101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2D5E41-A6BE-4845-90C2-A7FC659F12B5}"/>
              </a:ext>
            </a:extLst>
          </p:cNvPr>
          <p:cNvSpPr/>
          <p:nvPr/>
        </p:nvSpPr>
        <p:spPr>
          <a:xfrm>
            <a:off x="7260349" y="7192654"/>
            <a:ext cx="333594" cy="286604"/>
          </a:xfrm>
          <a:prstGeom prst="rect">
            <a:avLst/>
          </a:prstGeom>
          <a:solidFill>
            <a:srgbClr val="F2E5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31" name="2Chart">
            <a:extLst>
              <a:ext uri="{FF2B5EF4-FFF2-40B4-BE49-F238E27FC236}">
                <a16:creationId xmlns:a16="http://schemas.microsoft.com/office/drawing/2014/main" id="{EFCB4E5C-472B-4501-9071-03DD32A4FBD5}"/>
              </a:ext>
            </a:extLst>
          </p:cNvPr>
          <p:cNvGraphicFramePr/>
          <p:nvPr/>
        </p:nvGraphicFramePr>
        <p:xfrm>
          <a:off x="1631397" y="1039599"/>
          <a:ext cx="5676128" cy="32316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2" name="2TextBox">
            <a:extLst>
              <a:ext uri="{FF2B5EF4-FFF2-40B4-BE49-F238E27FC236}">
                <a16:creationId xmlns:a16="http://schemas.microsoft.com/office/drawing/2014/main" id="{47F504A5-56A5-4A5C-A644-31DFFFF41F65}"/>
              </a:ext>
            </a:extLst>
          </p:cNvPr>
          <p:cNvSpPr txBox="1"/>
          <p:nvPr/>
        </p:nvSpPr>
        <p:spPr>
          <a:xfrm>
            <a:off x="1690872" y="4525098"/>
            <a:ext cx="707127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Performance Details – Month wise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Text box with bullets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Text box with bullets</a:t>
            </a:r>
            <a:endParaRPr kumimoji="0" lang="en-IN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Text box with bullets</a:t>
            </a:r>
            <a:endParaRPr kumimoji="0" lang="en-IN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2Title">
            <a:extLst>
              <a:ext uri="{FF2B5EF4-FFF2-40B4-BE49-F238E27FC236}">
                <a16:creationId xmlns:a16="http://schemas.microsoft.com/office/drawing/2014/main" id="{4BE4CE83-046D-40D1-AD7A-B0389E1A9072}"/>
              </a:ext>
            </a:extLst>
          </p:cNvPr>
          <p:cNvSpPr txBox="1"/>
          <p:nvPr/>
        </p:nvSpPr>
        <p:spPr>
          <a:xfrm>
            <a:off x="1631397" y="-107951"/>
            <a:ext cx="37909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Step two</a:t>
            </a:r>
            <a:endParaRPr kumimoji="0" lang="en-IN" sz="4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DE26FAFE-F05E-4B64-AD03-0290DF9A20B8}"/>
              </a:ext>
            </a:extLst>
          </p:cNvPr>
          <p:cNvSpPr/>
          <p:nvPr/>
        </p:nvSpPr>
        <p:spPr>
          <a:xfrm>
            <a:off x="978673" y="0"/>
            <a:ext cx="12182330" cy="6858000"/>
          </a:xfrm>
          <a:prstGeom prst="roundRect">
            <a:avLst>
              <a:gd name="adj" fmla="val 2367"/>
            </a:avLst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127000" dist="76200" dir="10800000" sx="101000" sy="101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34" name="2TextBox">
            <a:extLst>
              <a:ext uri="{FF2B5EF4-FFF2-40B4-BE49-F238E27FC236}">
                <a16:creationId xmlns:a16="http://schemas.microsoft.com/office/drawing/2014/main" id="{59D6579B-3D56-4DAD-A137-8041A2D800DC}"/>
              </a:ext>
            </a:extLst>
          </p:cNvPr>
          <p:cNvSpPr txBox="1"/>
          <p:nvPr/>
        </p:nvSpPr>
        <p:spPr>
          <a:xfrm>
            <a:off x="1631397" y="505956"/>
            <a:ext cx="6250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Subtitle will go here.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5" name="2Straight Connector">
            <a:extLst>
              <a:ext uri="{FF2B5EF4-FFF2-40B4-BE49-F238E27FC236}">
                <a16:creationId xmlns:a16="http://schemas.microsoft.com/office/drawing/2014/main" id="{8C9EB5B4-7924-493B-BEF7-8953DDEE34CE}"/>
              </a:ext>
            </a:extLst>
          </p:cNvPr>
          <p:cNvCxnSpPr>
            <a:cxnSpLocks/>
          </p:cNvCxnSpPr>
          <p:nvPr/>
        </p:nvCxnSpPr>
        <p:spPr>
          <a:xfrm>
            <a:off x="994551" y="875288"/>
            <a:ext cx="12192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F1EA363D-BF3D-4981-BF93-2C7755BC7668}"/>
              </a:ext>
            </a:extLst>
          </p:cNvPr>
          <p:cNvSpPr/>
          <p:nvPr/>
        </p:nvSpPr>
        <p:spPr>
          <a:xfrm>
            <a:off x="1631397" y="0"/>
            <a:ext cx="12182331" cy="6858000"/>
          </a:xfrm>
          <a:prstGeom prst="roundRect">
            <a:avLst>
              <a:gd name="adj" fmla="val 2754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37" name="3Title">
            <a:extLst>
              <a:ext uri="{FF2B5EF4-FFF2-40B4-BE49-F238E27FC236}">
                <a16:creationId xmlns:a16="http://schemas.microsoft.com/office/drawing/2014/main" id="{52029D20-3635-4BF0-88E9-919F77A59C98}"/>
              </a:ext>
            </a:extLst>
          </p:cNvPr>
          <p:cNvSpPr txBox="1"/>
          <p:nvPr/>
        </p:nvSpPr>
        <p:spPr>
          <a:xfrm>
            <a:off x="2289493" y="-107951"/>
            <a:ext cx="62123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i="0" u="none" strike="noStrike" kern="120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Equipment’s Name</a:t>
            </a:r>
            <a:endParaRPr kumimoji="0" lang="en-IN" sz="4000" i="0" u="none" strike="noStrike" kern="1200" normalizeH="0" baseline="0" noProof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3Sub">
            <a:extLst>
              <a:ext uri="{FF2B5EF4-FFF2-40B4-BE49-F238E27FC236}">
                <a16:creationId xmlns:a16="http://schemas.microsoft.com/office/drawing/2014/main" id="{77F20ACB-D38D-485E-8892-09E90514B1DE}"/>
              </a:ext>
            </a:extLst>
          </p:cNvPr>
          <p:cNvSpPr txBox="1"/>
          <p:nvPr/>
        </p:nvSpPr>
        <p:spPr>
          <a:xfrm>
            <a:off x="2289493" y="505956"/>
            <a:ext cx="6250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/>
              </a:rPr>
              <a:t>Let’s know about equipment’s</a:t>
            </a:r>
            <a:endParaRPr kumimoji="0" lang="en-IN" sz="1800" i="0" u="none" strike="noStrike" kern="1200" normalizeH="0" baseline="0" noProof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Calibri" panose="020F0502020204030204"/>
            </a:endParaRPr>
          </a:p>
        </p:txBody>
      </p:sp>
      <p:cxnSp>
        <p:nvCxnSpPr>
          <p:cNvPr id="43" name="3Straight Connector">
            <a:extLst>
              <a:ext uri="{FF2B5EF4-FFF2-40B4-BE49-F238E27FC236}">
                <a16:creationId xmlns:a16="http://schemas.microsoft.com/office/drawing/2014/main" id="{D8BB44E0-7585-4BDC-BE93-099ED17B34B6}"/>
              </a:ext>
            </a:extLst>
          </p:cNvPr>
          <p:cNvCxnSpPr>
            <a:cxnSpLocks/>
          </p:cNvCxnSpPr>
          <p:nvPr/>
        </p:nvCxnSpPr>
        <p:spPr>
          <a:xfrm>
            <a:off x="1747701" y="875288"/>
            <a:ext cx="12192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D68A4F18-CB86-4BDC-8E76-D3601D94C91D}"/>
              </a:ext>
            </a:extLst>
          </p:cNvPr>
          <p:cNvSpPr/>
          <p:nvPr/>
        </p:nvSpPr>
        <p:spPr>
          <a:xfrm>
            <a:off x="10250266" y="0"/>
            <a:ext cx="12182330" cy="6858000"/>
          </a:xfrm>
          <a:prstGeom prst="roundRect">
            <a:avLst>
              <a:gd name="adj" fmla="val 2561"/>
            </a:avLst>
          </a:prstGeom>
          <a:solidFill>
            <a:srgbClr val="0F3041"/>
          </a:solidFill>
          <a:ln>
            <a:noFill/>
          </a:ln>
          <a:effectLst>
            <a:outerShdw blurRad="127000" dist="76200" dir="10800000" sx="101000" sy="101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BEA104E5-B538-413B-A27D-447E7819706F}"/>
              </a:ext>
            </a:extLst>
          </p:cNvPr>
          <p:cNvSpPr/>
          <p:nvPr/>
        </p:nvSpPr>
        <p:spPr>
          <a:xfrm>
            <a:off x="11070029" y="0"/>
            <a:ext cx="12182331" cy="6858000"/>
          </a:xfrm>
          <a:prstGeom prst="roundRect">
            <a:avLst>
              <a:gd name="adj" fmla="val 2561"/>
            </a:avLst>
          </a:prstGeom>
          <a:solidFill>
            <a:srgbClr val="F2E5B9"/>
          </a:solidFill>
          <a:ln>
            <a:noFill/>
          </a:ln>
          <a:effectLst>
            <a:outerShdw blurRad="127000" dist="76200" dir="10800000" sx="101000" sy="101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grpSp>
        <p:nvGrpSpPr>
          <p:cNvPr id="58" name="object 12"/>
          <p:cNvGrpSpPr/>
          <p:nvPr/>
        </p:nvGrpSpPr>
        <p:grpSpPr>
          <a:xfrm>
            <a:off x="-262279" y="7135808"/>
            <a:ext cx="327487" cy="94304"/>
            <a:chOff x="1234034" y="9136288"/>
            <a:chExt cx="455930" cy="114300"/>
          </a:xfrm>
        </p:grpSpPr>
        <p:sp>
          <p:nvSpPr>
            <p:cNvPr id="59" name="object 13"/>
            <p:cNvSpPr/>
            <p:nvPr/>
          </p:nvSpPr>
          <p:spPr>
            <a:xfrm>
              <a:off x="1575316" y="9136288"/>
              <a:ext cx="114299" cy="11429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sp>
          <p:nvSpPr>
            <p:cNvPr id="60" name="object 14"/>
            <p:cNvSpPr/>
            <p:nvPr/>
          </p:nvSpPr>
          <p:spPr>
            <a:xfrm>
              <a:off x="1404676" y="9136288"/>
              <a:ext cx="114299" cy="11429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sp>
          <p:nvSpPr>
            <p:cNvPr id="61" name="object 15"/>
            <p:cNvSpPr/>
            <p:nvPr/>
          </p:nvSpPr>
          <p:spPr>
            <a:xfrm>
              <a:off x="1234034" y="9136288"/>
              <a:ext cx="114299" cy="11429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00"/>
            </a:p>
          </p:txBody>
        </p:sp>
      </p:grpSp>
      <p:pic>
        <p:nvPicPr>
          <p:cNvPr id="63" name="Picture 5" descr="Arduino UNO SMD - Robo Tech Valley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707339" y="892036"/>
            <a:ext cx="2650267" cy="2650267"/>
          </a:xfrm>
          <a:prstGeom prst="rect">
            <a:avLst/>
          </a:prstGeom>
          <a:noFill/>
        </p:spPr>
      </p:pic>
      <p:pic>
        <p:nvPicPr>
          <p:cNvPr id="64" name="Picture 6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6480263" y="1273196"/>
            <a:ext cx="2900932" cy="20073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5" name="Picture 9" descr="Micro DC Motor - Robotech Shop"/>
          <p:cNvPicPr>
            <a:picLocks noChangeAspect="1" noChangeArrowheads="1"/>
          </p:cNvPicPr>
          <p:nvPr/>
        </p:nvPicPr>
        <p:blipFill>
          <a:blip r:embed="rId8" cstate="print">
            <a:lum contrast="10000"/>
          </a:blip>
          <a:srcRect/>
          <a:stretch>
            <a:fillRect/>
          </a:stretch>
        </p:blipFill>
        <p:spPr bwMode="auto">
          <a:xfrm>
            <a:off x="2961231" y="3723429"/>
            <a:ext cx="2361152" cy="2253355"/>
          </a:xfrm>
          <a:prstGeom prst="rect">
            <a:avLst/>
          </a:prstGeom>
          <a:noFill/>
        </p:spPr>
      </p:pic>
      <p:pic>
        <p:nvPicPr>
          <p:cNvPr id="66" name="Picture 11" descr="Ultrasonic sonar sensor HC-SR04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7099971" y="4057008"/>
            <a:ext cx="1958513" cy="1787321"/>
          </a:xfrm>
          <a:prstGeom prst="rect">
            <a:avLst/>
          </a:prstGeom>
          <a:noFill/>
        </p:spPr>
      </p:pic>
      <p:sp>
        <p:nvSpPr>
          <p:cNvPr id="67" name="TextBox 66"/>
          <p:cNvSpPr txBox="1"/>
          <p:nvPr/>
        </p:nvSpPr>
        <p:spPr>
          <a:xfrm>
            <a:off x="3223884" y="3546746"/>
            <a:ext cx="1595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latin typeface="Maven Pro" pitchFamily="2" charset="0"/>
              </a:rPr>
              <a:t>Arduino</a:t>
            </a:r>
            <a:r>
              <a:rPr lang="en-US" dirty="0" smtClean="0">
                <a:latin typeface="Maven Pro" pitchFamily="2" charset="0"/>
              </a:rPr>
              <a:t> UNO</a:t>
            </a:r>
            <a:endParaRPr lang="en-US" dirty="0">
              <a:latin typeface="Maven Pro" pitchFamily="2" charset="0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6919153" y="3519225"/>
            <a:ext cx="2616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Maven Pro" pitchFamily="2" charset="0"/>
              </a:rPr>
              <a:t>H-bridge Motor Driver</a:t>
            </a:r>
            <a:endParaRPr lang="en-US" dirty="0">
              <a:latin typeface="Maven Pro" pitchFamily="2" charset="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3379513" y="5980289"/>
            <a:ext cx="1231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Maven Pro" pitchFamily="2" charset="0"/>
              </a:rPr>
              <a:t>DC Motor</a:t>
            </a:r>
            <a:endParaRPr lang="en-US" dirty="0">
              <a:latin typeface="Maven Pro" pitchFamily="2" charset="0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6716544" y="6023026"/>
            <a:ext cx="3123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Maven Pro" pitchFamily="2" charset="0"/>
              </a:rPr>
              <a:t>Ultrasonic Distance Sensor</a:t>
            </a:r>
            <a:endParaRPr lang="en-US" dirty="0">
              <a:latin typeface="Maven Pr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02112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41">
            <a:extLst>
              <a:ext uri="{FF2B5EF4-FFF2-40B4-BE49-F238E27FC236}">
                <a16:creationId xmlns:a16="http://schemas.microsoft.com/office/drawing/2014/main" id="{9A9867F0-101B-4D02-967B-B5AA96F2DD93}"/>
              </a:ext>
            </a:extLst>
          </p:cNvPr>
          <p:cNvSpPr txBox="1"/>
          <p:nvPr/>
        </p:nvSpPr>
        <p:spPr>
          <a:xfrm>
            <a:off x="645420" y="1927521"/>
            <a:ext cx="371487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0F304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Business Presentation</a:t>
            </a:r>
            <a:endParaRPr lang="en-IN" sz="4800" dirty="0">
              <a:solidFill>
                <a:srgbClr val="0F304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98" name="Graphic 97" descr="Presentation with pie chart">
            <a:extLst>
              <a:ext uri="{FF2B5EF4-FFF2-40B4-BE49-F238E27FC236}">
                <a16:creationId xmlns:a16="http://schemas.microsoft.com/office/drawing/2014/main" id="{DEC24B35-08EC-4D29-AB9E-02E688BAA8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645419" y="4075330"/>
            <a:ext cx="1680685" cy="1680685"/>
          </a:xfrm>
          <a:prstGeom prst="rect">
            <a:avLst/>
          </a:prstGeom>
        </p:spPr>
      </p:pic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A496CE44-7FD9-48FF-89D1-E8B659079234}"/>
              </a:ext>
            </a:extLst>
          </p:cNvPr>
          <p:cNvSpPr/>
          <p:nvPr/>
        </p:nvSpPr>
        <p:spPr>
          <a:xfrm>
            <a:off x="282393" y="0"/>
            <a:ext cx="12182331" cy="6858000"/>
          </a:xfrm>
          <a:prstGeom prst="roundRect">
            <a:avLst>
              <a:gd name="adj" fmla="val 1401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127000" dist="76200" dir="10800000" sx="101000" sy="101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cxnSp>
        <p:nvCxnSpPr>
          <p:cNvPr id="28" name="1Straight Connector">
            <a:extLst>
              <a:ext uri="{FF2B5EF4-FFF2-40B4-BE49-F238E27FC236}">
                <a16:creationId xmlns:a16="http://schemas.microsoft.com/office/drawing/2014/main" id="{D59E6565-C9FA-4794-A440-0358FD2EDAEF}"/>
              </a:ext>
            </a:extLst>
          </p:cNvPr>
          <p:cNvCxnSpPr>
            <a:cxnSpLocks/>
          </p:cNvCxnSpPr>
          <p:nvPr/>
        </p:nvCxnSpPr>
        <p:spPr>
          <a:xfrm>
            <a:off x="332157" y="875288"/>
            <a:ext cx="12192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DA065773-9CB0-4F27-B751-4A37DE4B151B}"/>
              </a:ext>
            </a:extLst>
          </p:cNvPr>
          <p:cNvSpPr/>
          <p:nvPr/>
        </p:nvSpPr>
        <p:spPr>
          <a:xfrm>
            <a:off x="5481386" y="7192654"/>
            <a:ext cx="333594" cy="286604"/>
          </a:xfrm>
          <a:prstGeom prst="rect">
            <a:avLst/>
          </a:prstGeom>
          <a:solidFill>
            <a:srgbClr val="B272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E2C4A4-95C8-4BF8-AAB0-95B3118D994D}"/>
              </a:ext>
            </a:extLst>
          </p:cNvPr>
          <p:cNvSpPr/>
          <p:nvPr/>
        </p:nvSpPr>
        <p:spPr>
          <a:xfrm>
            <a:off x="4955547" y="7192654"/>
            <a:ext cx="333594" cy="286604"/>
          </a:xfrm>
          <a:prstGeom prst="rect">
            <a:avLst/>
          </a:prstGeom>
          <a:solidFill>
            <a:srgbClr val="3737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CB57BC-A4ED-4A42-8824-367ADB0DF803}"/>
              </a:ext>
            </a:extLst>
          </p:cNvPr>
          <p:cNvSpPr/>
          <p:nvPr/>
        </p:nvSpPr>
        <p:spPr>
          <a:xfrm>
            <a:off x="6699861" y="7192654"/>
            <a:ext cx="333594" cy="286604"/>
          </a:xfrm>
          <a:prstGeom prst="rect">
            <a:avLst/>
          </a:prstGeom>
          <a:solidFill>
            <a:srgbClr val="0F30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CE30460-38B3-475A-A2B7-B0914C420235}"/>
              </a:ext>
            </a:extLst>
          </p:cNvPr>
          <p:cNvSpPr/>
          <p:nvPr/>
        </p:nvSpPr>
        <p:spPr>
          <a:xfrm>
            <a:off x="6007225" y="7192654"/>
            <a:ext cx="333594" cy="286604"/>
          </a:xfrm>
          <a:prstGeom prst="rect">
            <a:avLst/>
          </a:prstGeom>
          <a:solidFill>
            <a:srgbClr val="C824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2D5E41-A6BE-4845-90C2-A7FC659F12B5}"/>
              </a:ext>
            </a:extLst>
          </p:cNvPr>
          <p:cNvSpPr/>
          <p:nvPr/>
        </p:nvSpPr>
        <p:spPr>
          <a:xfrm>
            <a:off x="7260349" y="7192654"/>
            <a:ext cx="333594" cy="286604"/>
          </a:xfrm>
          <a:prstGeom prst="rect">
            <a:avLst/>
          </a:prstGeom>
          <a:solidFill>
            <a:srgbClr val="F2E5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DE26FAFE-F05E-4B64-AD03-0290DF9A20B8}"/>
              </a:ext>
            </a:extLst>
          </p:cNvPr>
          <p:cNvSpPr/>
          <p:nvPr/>
        </p:nvSpPr>
        <p:spPr>
          <a:xfrm>
            <a:off x="909353" y="0"/>
            <a:ext cx="12182330" cy="6858000"/>
          </a:xfrm>
          <a:prstGeom prst="roundRect">
            <a:avLst>
              <a:gd name="adj" fmla="val 2367"/>
            </a:avLst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127000" dist="76200" dir="10800000" sx="101000" sy="101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cxnSp>
        <p:nvCxnSpPr>
          <p:cNvPr id="35" name="2Straight Connector">
            <a:extLst>
              <a:ext uri="{FF2B5EF4-FFF2-40B4-BE49-F238E27FC236}">
                <a16:creationId xmlns:a16="http://schemas.microsoft.com/office/drawing/2014/main" id="{8C9EB5B4-7924-493B-BEF7-8953DDEE34CE}"/>
              </a:ext>
            </a:extLst>
          </p:cNvPr>
          <p:cNvCxnSpPr>
            <a:cxnSpLocks/>
          </p:cNvCxnSpPr>
          <p:nvPr/>
        </p:nvCxnSpPr>
        <p:spPr>
          <a:xfrm>
            <a:off x="994551" y="875288"/>
            <a:ext cx="12192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F1EA363D-BF3D-4981-BF93-2C7755BC7668}"/>
              </a:ext>
            </a:extLst>
          </p:cNvPr>
          <p:cNvSpPr/>
          <p:nvPr/>
        </p:nvSpPr>
        <p:spPr>
          <a:xfrm>
            <a:off x="1536312" y="-25330"/>
            <a:ext cx="12182331" cy="6858000"/>
          </a:xfrm>
          <a:prstGeom prst="roundRect">
            <a:avLst>
              <a:gd name="adj" fmla="val 2754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37" name="3Title">
            <a:extLst>
              <a:ext uri="{FF2B5EF4-FFF2-40B4-BE49-F238E27FC236}">
                <a16:creationId xmlns:a16="http://schemas.microsoft.com/office/drawing/2014/main" id="{52029D20-3635-4BF0-88E9-919F77A59C98}"/>
              </a:ext>
            </a:extLst>
          </p:cNvPr>
          <p:cNvSpPr txBox="1"/>
          <p:nvPr/>
        </p:nvSpPr>
        <p:spPr>
          <a:xfrm>
            <a:off x="2289493" y="-107951"/>
            <a:ext cx="62123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i="0" u="none" strike="noStrike" kern="120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Equipment’s Name</a:t>
            </a:r>
            <a:endParaRPr kumimoji="0" lang="en-IN" sz="4000" i="0" u="none" strike="noStrike" kern="1200" normalizeH="0" baseline="0" noProof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3Sub">
            <a:extLst>
              <a:ext uri="{FF2B5EF4-FFF2-40B4-BE49-F238E27FC236}">
                <a16:creationId xmlns:a16="http://schemas.microsoft.com/office/drawing/2014/main" id="{77F20ACB-D38D-485E-8892-09E90514B1DE}"/>
              </a:ext>
            </a:extLst>
          </p:cNvPr>
          <p:cNvSpPr txBox="1"/>
          <p:nvPr/>
        </p:nvSpPr>
        <p:spPr>
          <a:xfrm>
            <a:off x="2289493" y="505956"/>
            <a:ext cx="6250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/>
              </a:rPr>
              <a:t>Let’s know about equipment’s</a:t>
            </a:r>
            <a:endParaRPr kumimoji="0" lang="en-IN" sz="1800" i="0" u="none" strike="noStrike" kern="1200" normalizeH="0" baseline="0" noProof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Calibri" panose="020F0502020204030204"/>
            </a:endParaRPr>
          </a:p>
        </p:txBody>
      </p:sp>
      <p:cxnSp>
        <p:nvCxnSpPr>
          <p:cNvPr id="43" name="3Straight Connector">
            <a:extLst>
              <a:ext uri="{FF2B5EF4-FFF2-40B4-BE49-F238E27FC236}">
                <a16:creationId xmlns:a16="http://schemas.microsoft.com/office/drawing/2014/main" id="{D8BB44E0-7585-4BDC-BE93-099ED17B34B6}"/>
              </a:ext>
            </a:extLst>
          </p:cNvPr>
          <p:cNvCxnSpPr>
            <a:cxnSpLocks/>
          </p:cNvCxnSpPr>
          <p:nvPr/>
        </p:nvCxnSpPr>
        <p:spPr>
          <a:xfrm>
            <a:off x="1747701" y="875288"/>
            <a:ext cx="12192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D68A4F18-CB86-4BDC-8E76-D3601D94C91D}"/>
              </a:ext>
            </a:extLst>
          </p:cNvPr>
          <p:cNvSpPr/>
          <p:nvPr/>
        </p:nvSpPr>
        <p:spPr>
          <a:xfrm>
            <a:off x="10250266" y="0"/>
            <a:ext cx="12182330" cy="6858000"/>
          </a:xfrm>
          <a:prstGeom prst="roundRect">
            <a:avLst>
              <a:gd name="adj" fmla="val 2561"/>
            </a:avLst>
          </a:prstGeom>
          <a:solidFill>
            <a:srgbClr val="0F3041"/>
          </a:solidFill>
          <a:ln>
            <a:noFill/>
          </a:ln>
          <a:effectLst>
            <a:outerShdw blurRad="127000" dist="76200" dir="10800000" sx="101000" sy="101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BEA104E5-B538-413B-A27D-447E7819706F}"/>
              </a:ext>
            </a:extLst>
          </p:cNvPr>
          <p:cNvSpPr/>
          <p:nvPr/>
        </p:nvSpPr>
        <p:spPr>
          <a:xfrm>
            <a:off x="11070029" y="0"/>
            <a:ext cx="12182331" cy="6858000"/>
          </a:xfrm>
          <a:prstGeom prst="roundRect">
            <a:avLst>
              <a:gd name="adj" fmla="val 2561"/>
            </a:avLst>
          </a:prstGeom>
          <a:solidFill>
            <a:srgbClr val="F2E5B9"/>
          </a:solidFill>
          <a:ln>
            <a:noFill/>
          </a:ln>
          <a:effectLst>
            <a:outerShdw blurRad="127000" dist="76200" dir="10800000" sx="101000" sy="101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grpSp>
        <p:nvGrpSpPr>
          <p:cNvPr id="58" name="object 12"/>
          <p:cNvGrpSpPr/>
          <p:nvPr/>
        </p:nvGrpSpPr>
        <p:grpSpPr>
          <a:xfrm>
            <a:off x="-262279" y="7135808"/>
            <a:ext cx="327487" cy="94304"/>
            <a:chOff x="1234034" y="9136288"/>
            <a:chExt cx="455930" cy="114300"/>
          </a:xfrm>
        </p:grpSpPr>
        <p:sp>
          <p:nvSpPr>
            <p:cNvPr id="59" name="object 13"/>
            <p:cNvSpPr/>
            <p:nvPr/>
          </p:nvSpPr>
          <p:spPr>
            <a:xfrm>
              <a:off x="1575316" y="9136288"/>
              <a:ext cx="114299" cy="11429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sp>
          <p:nvSpPr>
            <p:cNvPr id="60" name="object 14"/>
            <p:cNvSpPr/>
            <p:nvPr/>
          </p:nvSpPr>
          <p:spPr>
            <a:xfrm>
              <a:off x="1404676" y="9136288"/>
              <a:ext cx="114299" cy="11429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sp>
          <p:nvSpPr>
            <p:cNvPr id="61" name="object 15"/>
            <p:cNvSpPr/>
            <p:nvPr/>
          </p:nvSpPr>
          <p:spPr>
            <a:xfrm>
              <a:off x="1234034" y="9136288"/>
              <a:ext cx="114299" cy="11429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00"/>
            </a:p>
          </p:txBody>
        </p:sp>
      </p:grpSp>
      <p:pic>
        <p:nvPicPr>
          <p:cNvPr id="56" name="Picture 55" descr="Electronic-Component-Potentiometer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836887" y="1124121"/>
            <a:ext cx="1968159" cy="1989322"/>
          </a:xfrm>
          <a:prstGeom prst="rect">
            <a:avLst/>
          </a:prstGeom>
        </p:spPr>
      </p:pic>
      <p:pic>
        <p:nvPicPr>
          <p:cNvPr id="57" name="Picture 56" descr="Screen Shot 2020-12-05 at 12.16.57.png"/>
          <p:cNvPicPr>
            <a:picLocks noChangeAspect="1"/>
          </p:cNvPicPr>
          <p:nvPr/>
        </p:nvPicPr>
        <p:blipFill>
          <a:blip r:embed="rId6">
            <a:lum contrast="10000"/>
          </a:blip>
          <a:stretch>
            <a:fillRect/>
          </a:stretch>
        </p:blipFill>
        <p:spPr>
          <a:xfrm>
            <a:off x="6386898" y="1402640"/>
            <a:ext cx="3259307" cy="1836653"/>
          </a:xfrm>
          <a:prstGeom prst="rect">
            <a:avLst/>
          </a:prstGeom>
        </p:spPr>
      </p:pic>
      <p:pic>
        <p:nvPicPr>
          <p:cNvPr id="62" name="Picture 61" descr="New-Mini-Universal-Test-Protoboard-400-Tie-Points-PCB-Breadboard-for-Arduino.jpg"/>
          <p:cNvPicPr>
            <a:picLocks noChangeAspect="1"/>
          </p:cNvPicPr>
          <p:nvPr/>
        </p:nvPicPr>
        <p:blipFill>
          <a:blip r:embed="rId7" cstate="print">
            <a:lum contrast="10000"/>
          </a:blip>
          <a:stretch>
            <a:fillRect/>
          </a:stretch>
        </p:blipFill>
        <p:spPr>
          <a:xfrm>
            <a:off x="2719417" y="3571953"/>
            <a:ext cx="2102921" cy="2102921"/>
          </a:xfrm>
          <a:prstGeom prst="rect">
            <a:avLst/>
          </a:prstGeom>
        </p:spPr>
      </p:pic>
      <p:pic>
        <p:nvPicPr>
          <p:cNvPr id="71" name="Picture 70" descr="16x2-lcd-blue-backlight-800x800-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6882814" y="3347244"/>
            <a:ext cx="2522052" cy="2522052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3072725" y="3033401"/>
            <a:ext cx="1697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Maven Pro" pitchFamily="2" charset="0"/>
              </a:rPr>
              <a:t>Potentiometer</a:t>
            </a:r>
            <a:endParaRPr lang="en-US" dirty="0">
              <a:latin typeface="Maven Pro" pitchFamily="2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7346912" y="3038700"/>
            <a:ext cx="1613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Maven Pro" pitchFamily="2" charset="0"/>
              </a:rPr>
              <a:t>9V Battery</a:t>
            </a:r>
            <a:endParaRPr lang="en-US" dirty="0">
              <a:latin typeface="Maven Pro" pitchFamily="2" charset="0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2863220" y="5836284"/>
            <a:ext cx="1670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Maven Pro" pitchFamily="2" charset="0"/>
              </a:rPr>
              <a:t>Breadboard</a:t>
            </a:r>
            <a:endParaRPr lang="en-US" dirty="0">
              <a:latin typeface="Maven Pro" pitchFamily="2" charset="0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7410463" y="5809650"/>
            <a:ext cx="13475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Maven Pro" pitchFamily="2" charset="0"/>
              </a:rPr>
              <a:t>LCD 16*2</a:t>
            </a:r>
            <a:endParaRPr lang="en-US" dirty="0">
              <a:latin typeface="Maven Pr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86530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A9867F0-101B-4D02-967B-B5AA96F2DD93}"/>
              </a:ext>
            </a:extLst>
          </p:cNvPr>
          <p:cNvSpPr txBox="1"/>
          <p:nvPr/>
        </p:nvSpPr>
        <p:spPr>
          <a:xfrm>
            <a:off x="645420" y="1927521"/>
            <a:ext cx="371487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0F304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Business Presentation</a:t>
            </a:r>
            <a:endParaRPr lang="en-IN" sz="4800" dirty="0">
              <a:solidFill>
                <a:srgbClr val="0F304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" name="Graphic 97" descr="Presentation with pie chart">
            <a:extLst>
              <a:ext uri="{FF2B5EF4-FFF2-40B4-BE49-F238E27FC236}">
                <a16:creationId xmlns:a16="http://schemas.microsoft.com/office/drawing/2014/main" id="{DEC24B35-08EC-4D29-AB9E-02E688BAA8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645419" y="4075330"/>
            <a:ext cx="1680685" cy="1680685"/>
          </a:xfrm>
          <a:prstGeom prst="rect">
            <a:avLst/>
          </a:prstGeom>
        </p:spPr>
      </p:pic>
      <p:sp>
        <p:nvSpPr>
          <p:cNvPr id="6" name="Rectangle: Rounded Corners 91">
            <a:extLst>
              <a:ext uri="{FF2B5EF4-FFF2-40B4-BE49-F238E27FC236}">
                <a16:creationId xmlns:a16="http://schemas.microsoft.com/office/drawing/2014/main" id="{A496CE44-7FD9-48FF-89D1-E8B659079234}"/>
              </a:ext>
            </a:extLst>
          </p:cNvPr>
          <p:cNvSpPr/>
          <p:nvPr/>
        </p:nvSpPr>
        <p:spPr>
          <a:xfrm>
            <a:off x="282393" y="0"/>
            <a:ext cx="12182331" cy="6858000"/>
          </a:xfrm>
          <a:prstGeom prst="roundRect">
            <a:avLst>
              <a:gd name="adj" fmla="val 1401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127000" dist="76200" dir="10800000" sx="101000" sy="101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cxnSp>
        <p:nvCxnSpPr>
          <p:cNvPr id="7" name="1Straight Connector">
            <a:extLst>
              <a:ext uri="{FF2B5EF4-FFF2-40B4-BE49-F238E27FC236}">
                <a16:creationId xmlns:a16="http://schemas.microsoft.com/office/drawing/2014/main" id="{D59E6565-C9FA-4794-A440-0358FD2EDAEF}"/>
              </a:ext>
            </a:extLst>
          </p:cNvPr>
          <p:cNvCxnSpPr>
            <a:cxnSpLocks/>
          </p:cNvCxnSpPr>
          <p:nvPr/>
        </p:nvCxnSpPr>
        <p:spPr>
          <a:xfrm>
            <a:off x="332157" y="875288"/>
            <a:ext cx="12192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DA065773-9CB0-4F27-B751-4A37DE4B151B}"/>
              </a:ext>
            </a:extLst>
          </p:cNvPr>
          <p:cNvSpPr/>
          <p:nvPr/>
        </p:nvSpPr>
        <p:spPr>
          <a:xfrm>
            <a:off x="5481386" y="7192654"/>
            <a:ext cx="333594" cy="286604"/>
          </a:xfrm>
          <a:prstGeom prst="rect">
            <a:avLst/>
          </a:prstGeom>
          <a:solidFill>
            <a:srgbClr val="B272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E2C4A4-95C8-4BF8-AAB0-95B3118D994D}"/>
              </a:ext>
            </a:extLst>
          </p:cNvPr>
          <p:cNvSpPr/>
          <p:nvPr/>
        </p:nvSpPr>
        <p:spPr>
          <a:xfrm>
            <a:off x="4955547" y="7192654"/>
            <a:ext cx="333594" cy="286604"/>
          </a:xfrm>
          <a:prstGeom prst="rect">
            <a:avLst/>
          </a:prstGeom>
          <a:solidFill>
            <a:srgbClr val="3737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CB57BC-A4ED-4A42-8824-367ADB0DF803}"/>
              </a:ext>
            </a:extLst>
          </p:cNvPr>
          <p:cNvSpPr/>
          <p:nvPr/>
        </p:nvSpPr>
        <p:spPr>
          <a:xfrm>
            <a:off x="6699861" y="7192654"/>
            <a:ext cx="333594" cy="286604"/>
          </a:xfrm>
          <a:prstGeom prst="rect">
            <a:avLst/>
          </a:prstGeom>
          <a:solidFill>
            <a:srgbClr val="0F30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CE30460-38B3-475A-A2B7-B0914C420235}"/>
              </a:ext>
            </a:extLst>
          </p:cNvPr>
          <p:cNvSpPr/>
          <p:nvPr/>
        </p:nvSpPr>
        <p:spPr>
          <a:xfrm>
            <a:off x="6007225" y="7192654"/>
            <a:ext cx="333594" cy="286604"/>
          </a:xfrm>
          <a:prstGeom prst="rect">
            <a:avLst/>
          </a:prstGeom>
          <a:solidFill>
            <a:srgbClr val="C824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82D5E41-A6BE-4845-90C2-A7FC659F12B5}"/>
              </a:ext>
            </a:extLst>
          </p:cNvPr>
          <p:cNvSpPr/>
          <p:nvPr/>
        </p:nvSpPr>
        <p:spPr>
          <a:xfrm>
            <a:off x="7260349" y="7192654"/>
            <a:ext cx="333594" cy="286604"/>
          </a:xfrm>
          <a:prstGeom prst="rect">
            <a:avLst/>
          </a:prstGeom>
          <a:solidFill>
            <a:srgbClr val="F2E5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: Rounded Corners 92">
            <a:extLst>
              <a:ext uri="{FF2B5EF4-FFF2-40B4-BE49-F238E27FC236}">
                <a16:creationId xmlns:a16="http://schemas.microsoft.com/office/drawing/2014/main" id="{DE26FAFE-F05E-4B64-AD03-0290DF9A20B8}"/>
              </a:ext>
            </a:extLst>
          </p:cNvPr>
          <p:cNvSpPr/>
          <p:nvPr/>
        </p:nvSpPr>
        <p:spPr>
          <a:xfrm>
            <a:off x="909353" y="0"/>
            <a:ext cx="12182330" cy="6858000"/>
          </a:xfrm>
          <a:prstGeom prst="roundRect">
            <a:avLst>
              <a:gd name="adj" fmla="val 2367"/>
            </a:avLst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127000" dist="76200" dir="10800000" sx="101000" sy="101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cxnSp>
        <p:nvCxnSpPr>
          <p:cNvPr id="14" name="2Straight Connector">
            <a:extLst>
              <a:ext uri="{FF2B5EF4-FFF2-40B4-BE49-F238E27FC236}">
                <a16:creationId xmlns:a16="http://schemas.microsoft.com/office/drawing/2014/main" id="{8C9EB5B4-7924-493B-BEF7-8953DDEE34CE}"/>
              </a:ext>
            </a:extLst>
          </p:cNvPr>
          <p:cNvCxnSpPr>
            <a:cxnSpLocks/>
          </p:cNvCxnSpPr>
          <p:nvPr/>
        </p:nvCxnSpPr>
        <p:spPr>
          <a:xfrm>
            <a:off x="994551" y="875288"/>
            <a:ext cx="12192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93">
            <a:extLst>
              <a:ext uri="{FF2B5EF4-FFF2-40B4-BE49-F238E27FC236}">
                <a16:creationId xmlns:a16="http://schemas.microsoft.com/office/drawing/2014/main" id="{F1EA363D-BF3D-4981-BF93-2C7755BC7668}"/>
              </a:ext>
            </a:extLst>
          </p:cNvPr>
          <p:cNvSpPr/>
          <p:nvPr/>
        </p:nvSpPr>
        <p:spPr>
          <a:xfrm>
            <a:off x="1536312" y="-25330"/>
            <a:ext cx="12182331" cy="6858000"/>
          </a:xfrm>
          <a:prstGeom prst="roundRect">
            <a:avLst>
              <a:gd name="adj" fmla="val 2754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 smtClean="0"/>
          </a:p>
          <a:p>
            <a:pPr algn="ctr"/>
            <a:endParaRPr lang="en-IN" dirty="0" smtClean="0"/>
          </a:p>
          <a:p>
            <a:pPr algn="ctr"/>
            <a:endParaRPr lang="en-IN" dirty="0"/>
          </a:p>
        </p:txBody>
      </p:sp>
      <p:sp>
        <p:nvSpPr>
          <p:cNvPr id="16" name="3Title">
            <a:extLst>
              <a:ext uri="{FF2B5EF4-FFF2-40B4-BE49-F238E27FC236}">
                <a16:creationId xmlns:a16="http://schemas.microsoft.com/office/drawing/2014/main" id="{52029D20-3635-4BF0-88E9-919F77A59C98}"/>
              </a:ext>
            </a:extLst>
          </p:cNvPr>
          <p:cNvSpPr txBox="1"/>
          <p:nvPr/>
        </p:nvSpPr>
        <p:spPr>
          <a:xfrm>
            <a:off x="2289493" y="-107951"/>
            <a:ext cx="62123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4000" b="1" dirty="0" smtClean="0"/>
              <a:t>Working Procedure</a:t>
            </a:r>
            <a:endParaRPr lang="en-IN" sz="4000" b="1" dirty="0"/>
          </a:p>
        </p:txBody>
      </p:sp>
      <p:sp>
        <p:nvSpPr>
          <p:cNvPr id="17" name="3Sub">
            <a:extLst>
              <a:ext uri="{FF2B5EF4-FFF2-40B4-BE49-F238E27FC236}">
                <a16:creationId xmlns:a16="http://schemas.microsoft.com/office/drawing/2014/main" id="{77F20ACB-D38D-485E-8892-09E90514B1DE}"/>
              </a:ext>
            </a:extLst>
          </p:cNvPr>
          <p:cNvSpPr txBox="1"/>
          <p:nvPr/>
        </p:nvSpPr>
        <p:spPr>
          <a:xfrm>
            <a:off x="2410517" y="519403"/>
            <a:ext cx="6250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IN" dirty="0" smtClean="0"/>
              <a:t>How does it works?</a:t>
            </a:r>
            <a:endParaRPr lang="en-IN" dirty="0"/>
          </a:p>
        </p:txBody>
      </p:sp>
      <p:cxnSp>
        <p:nvCxnSpPr>
          <p:cNvPr id="18" name="3Straight Connector">
            <a:extLst>
              <a:ext uri="{FF2B5EF4-FFF2-40B4-BE49-F238E27FC236}">
                <a16:creationId xmlns:a16="http://schemas.microsoft.com/office/drawing/2014/main" id="{D8BB44E0-7585-4BDC-BE93-099ED17B34B6}"/>
              </a:ext>
            </a:extLst>
          </p:cNvPr>
          <p:cNvCxnSpPr>
            <a:cxnSpLocks/>
          </p:cNvCxnSpPr>
          <p:nvPr/>
        </p:nvCxnSpPr>
        <p:spPr>
          <a:xfrm>
            <a:off x="1747701" y="875288"/>
            <a:ext cx="12192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94">
            <a:extLst>
              <a:ext uri="{FF2B5EF4-FFF2-40B4-BE49-F238E27FC236}">
                <a16:creationId xmlns:a16="http://schemas.microsoft.com/office/drawing/2014/main" id="{D68A4F18-CB86-4BDC-8E76-D3601D94C91D}"/>
              </a:ext>
            </a:extLst>
          </p:cNvPr>
          <p:cNvSpPr/>
          <p:nvPr/>
        </p:nvSpPr>
        <p:spPr>
          <a:xfrm>
            <a:off x="10250266" y="0"/>
            <a:ext cx="12182330" cy="6858000"/>
          </a:xfrm>
          <a:prstGeom prst="roundRect">
            <a:avLst>
              <a:gd name="adj" fmla="val 2561"/>
            </a:avLst>
          </a:prstGeom>
          <a:solidFill>
            <a:srgbClr val="0F3041"/>
          </a:solidFill>
          <a:ln>
            <a:noFill/>
          </a:ln>
          <a:effectLst>
            <a:outerShdw blurRad="127000" dist="76200" dir="10800000" sx="101000" sy="101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20" name="Rectangle: Rounded Corners 95">
            <a:extLst>
              <a:ext uri="{FF2B5EF4-FFF2-40B4-BE49-F238E27FC236}">
                <a16:creationId xmlns:a16="http://schemas.microsoft.com/office/drawing/2014/main" id="{BEA104E5-B538-413B-A27D-447E7819706F}"/>
              </a:ext>
            </a:extLst>
          </p:cNvPr>
          <p:cNvSpPr/>
          <p:nvPr/>
        </p:nvSpPr>
        <p:spPr>
          <a:xfrm>
            <a:off x="11070029" y="0"/>
            <a:ext cx="12182331" cy="6858000"/>
          </a:xfrm>
          <a:prstGeom prst="roundRect">
            <a:avLst>
              <a:gd name="adj" fmla="val 2561"/>
            </a:avLst>
          </a:prstGeom>
          <a:solidFill>
            <a:srgbClr val="F2E5B9"/>
          </a:solidFill>
          <a:ln>
            <a:noFill/>
          </a:ln>
          <a:effectLst>
            <a:outerShdw blurRad="127000" dist="76200" dir="10800000" sx="101000" sy="101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grpSp>
        <p:nvGrpSpPr>
          <p:cNvPr id="21" name="object 12"/>
          <p:cNvGrpSpPr/>
          <p:nvPr/>
        </p:nvGrpSpPr>
        <p:grpSpPr>
          <a:xfrm>
            <a:off x="-262279" y="7135808"/>
            <a:ext cx="327487" cy="94304"/>
            <a:chOff x="1234034" y="9136288"/>
            <a:chExt cx="455930" cy="114300"/>
          </a:xfrm>
        </p:grpSpPr>
        <p:sp>
          <p:nvSpPr>
            <p:cNvPr id="22" name="object 13"/>
            <p:cNvSpPr/>
            <p:nvPr/>
          </p:nvSpPr>
          <p:spPr>
            <a:xfrm>
              <a:off x="1575316" y="9136288"/>
              <a:ext cx="114299" cy="11429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sp>
          <p:nvSpPr>
            <p:cNvPr id="23" name="object 14"/>
            <p:cNvSpPr/>
            <p:nvPr/>
          </p:nvSpPr>
          <p:spPr>
            <a:xfrm>
              <a:off x="1404676" y="9136288"/>
              <a:ext cx="114299" cy="11429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sp>
          <p:nvSpPr>
            <p:cNvPr id="24" name="object 15"/>
            <p:cNvSpPr/>
            <p:nvPr/>
          </p:nvSpPr>
          <p:spPr>
            <a:xfrm>
              <a:off x="1234034" y="9136288"/>
              <a:ext cx="114299" cy="11429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00"/>
            </a:p>
          </p:txBody>
        </p:sp>
      </p:grpSp>
      <p:pic>
        <p:nvPicPr>
          <p:cNvPr id="23554" name="Picture 2" descr="https://hackster.imgix.net/uploads/attachments/1165819/FUMIP4EKD1O0L37.LARGE.jpg?auto=compress%2Cformat&amp;w=680&amp;h=510&amp;fit=max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576045" y="1036824"/>
            <a:ext cx="2506942" cy="1668684"/>
          </a:xfrm>
          <a:prstGeom prst="rect">
            <a:avLst/>
          </a:prstGeom>
          <a:noFill/>
        </p:spPr>
      </p:pic>
      <p:sp>
        <p:nvSpPr>
          <p:cNvPr id="35" name="TextBox 34"/>
          <p:cNvSpPr txBox="1"/>
          <p:nvPr/>
        </p:nvSpPr>
        <p:spPr>
          <a:xfrm>
            <a:off x="2259107" y="3012143"/>
            <a:ext cx="732864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Maven Pro" pitchFamily="2" charset="0"/>
              </a:rPr>
              <a:t>Obstacle Avoiding system  is an self driven </a:t>
            </a:r>
            <a:r>
              <a:rPr lang="en-US" dirty="0" err="1" smtClean="0">
                <a:latin typeface="Maven Pro" pitchFamily="2" charset="0"/>
              </a:rPr>
              <a:t>Arduino</a:t>
            </a:r>
            <a:r>
              <a:rPr lang="en-US" dirty="0" smtClean="0">
                <a:latin typeface="Maven Pro" pitchFamily="2" charset="0"/>
              </a:rPr>
              <a:t> based  system that works using ultrasonic sensor.</a:t>
            </a:r>
          </a:p>
          <a:p>
            <a:r>
              <a:rPr lang="en-US" dirty="0" smtClean="0">
                <a:latin typeface="Maven Pro" pitchFamily="2" charset="0"/>
              </a:rPr>
              <a:t/>
            </a:r>
            <a:br>
              <a:rPr lang="en-US" dirty="0" smtClean="0">
                <a:latin typeface="Maven Pro" pitchFamily="2" charset="0"/>
              </a:rPr>
            </a:br>
            <a:r>
              <a:rPr lang="en-US" dirty="0" smtClean="0">
                <a:latin typeface="Maven Pro" pitchFamily="2" charset="0"/>
              </a:rPr>
              <a:t/>
            </a:r>
            <a:br>
              <a:rPr lang="en-US" dirty="0" smtClean="0">
                <a:latin typeface="Maven Pro" pitchFamily="2" charset="0"/>
              </a:rPr>
            </a:br>
            <a:endParaRPr lang="en-US" dirty="0">
              <a:latin typeface="Maven Pro" pitchFamily="2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250143" y="3836897"/>
            <a:ext cx="732864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Maven Pro" pitchFamily="2" charset="0"/>
              </a:rPr>
              <a:t>Ultrasonic sensor note down the time taken by sensor to transmit ultrasonic beams and receiving the ultrasonic beams after hitting the surface. </a:t>
            </a:r>
          </a:p>
          <a:p>
            <a:endParaRPr lang="en-US" dirty="0" smtClean="0">
              <a:latin typeface="Maven Pro" pitchFamily="2" charset="0"/>
            </a:endParaRPr>
          </a:p>
          <a:p>
            <a:r>
              <a:rPr lang="en-US" dirty="0" smtClean="0">
                <a:latin typeface="Maven Pro" pitchFamily="2" charset="0"/>
              </a:rPr>
              <a:t>Then further the distance is calculated using the formula :</a:t>
            </a:r>
          </a:p>
          <a:p>
            <a:r>
              <a:rPr lang="en-US" dirty="0" smtClean="0">
                <a:latin typeface="Maven Pro" pitchFamily="2" charset="0"/>
              </a:rPr>
              <a:t>		</a:t>
            </a:r>
          </a:p>
          <a:p>
            <a:r>
              <a:rPr lang="en-US" dirty="0" smtClean="0">
                <a:latin typeface="Maven Pro" pitchFamily="2" charset="0"/>
              </a:rPr>
              <a:t>	   Distance = Duration*0.034/2 ;    [   using s = v t</a:t>
            </a:r>
          </a:p>
          <a:p>
            <a:r>
              <a:rPr lang="en-US" dirty="0" smtClean="0">
                <a:latin typeface="Maven Pro" pitchFamily="2" charset="0"/>
              </a:rPr>
              <a:t>                                                              v = velocity of sound</a:t>
            </a:r>
          </a:p>
          <a:p>
            <a:r>
              <a:rPr lang="en-US" dirty="0" smtClean="0">
                <a:latin typeface="Maven Pro" pitchFamily="2" charset="0"/>
              </a:rPr>
              <a:t>                                                              t  = total duration    ]</a:t>
            </a:r>
          </a:p>
          <a:p>
            <a:r>
              <a:rPr lang="en-US" dirty="0" smtClean="0">
                <a:latin typeface="Maven Pro" pitchFamily="2" charset="0"/>
              </a:rPr>
              <a:t>                                                                  </a:t>
            </a:r>
          </a:p>
          <a:p>
            <a:endParaRPr lang="en-US" dirty="0" smtClean="0">
              <a:latin typeface="Maven Pro" pitchFamily="2" charset="0"/>
            </a:endParaRPr>
          </a:p>
          <a:p>
            <a:r>
              <a:rPr lang="en-US" dirty="0" smtClean="0">
                <a:latin typeface="Maven Pro" pitchFamily="2" charset="0"/>
              </a:rPr>
              <a:t/>
            </a:r>
            <a:br>
              <a:rPr lang="en-US" dirty="0" smtClean="0">
                <a:latin typeface="Maven Pro" pitchFamily="2" charset="0"/>
              </a:rPr>
            </a:br>
            <a:endParaRPr lang="en-US" dirty="0">
              <a:latin typeface="Maven Pro" pitchFamily="2" charset="0"/>
            </a:endParaRPr>
          </a:p>
        </p:txBody>
      </p:sp>
      <p:pic>
        <p:nvPicPr>
          <p:cNvPr id="23556" name="Picture 4" descr="Ultrasonic Working Principle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386482" y="1062317"/>
            <a:ext cx="4032656" cy="158759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A9867F0-101B-4D02-967B-B5AA96F2DD93}"/>
              </a:ext>
            </a:extLst>
          </p:cNvPr>
          <p:cNvSpPr txBox="1"/>
          <p:nvPr/>
        </p:nvSpPr>
        <p:spPr>
          <a:xfrm>
            <a:off x="645420" y="1927521"/>
            <a:ext cx="371487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0F304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Business Presentation</a:t>
            </a:r>
            <a:endParaRPr lang="en-IN" sz="4800" dirty="0">
              <a:solidFill>
                <a:srgbClr val="0F304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" name="Graphic 97" descr="Presentation with pie chart">
            <a:extLst>
              <a:ext uri="{FF2B5EF4-FFF2-40B4-BE49-F238E27FC236}">
                <a16:creationId xmlns:a16="http://schemas.microsoft.com/office/drawing/2014/main" id="{DEC24B35-08EC-4D29-AB9E-02E688BAA8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645419" y="4075330"/>
            <a:ext cx="1680685" cy="1680685"/>
          </a:xfrm>
          <a:prstGeom prst="rect">
            <a:avLst/>
          </a:prstGeom>
        </p:spPr>
      </p:pic>
      <p:sp>
        <p:nvSpPr>
          <p:cNvPr id="6" name="Rectangle: Rounded Corners 91">
            <a:extLst>
              <a:ext uri="{FF2B5EF4-FFF2-40B4-BE49-F238E27FC236}">
                <a16:creationId xmlns:a16="http://schemas.microsoft.com/office/drawing/2014/main" id="{A496CE44-7FD9-48FF-89D1-E8B659079234}"/>
              </a:ext>
            </a:extLst>
          </p:cNvPr>
          <p:cNvSpPr/>
          <p:nvPr/>
        </p:nvSpPr>
        <p:spPr>
          <a:xfrm>
            <a:off x="282393" y="0"/>
            <a:ext cx="12182331" cy="6858000"/>
          </a:xfrm>
          <a:prstGeom prst="roundRect">
            <a:avLst>
              <a:gd name="adj" fmla="val 1401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127000" dist="76200" dir="10800000" sx="101000" sy="101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cxnSp>
        <p:nvCxnSpPr>
          <p:cNvPr id="7" name="1Straight Connector">
            <a:extLst>
              <a:ext uri="{FF2B5EF4-FFF2-40B4-BE49-F238E27FC236}">
                <a16:creationId xmlns:a16="http://schemas.microsoft.com/office/drawing/2014/main" id="{D59E6565-C9FA-4794-A440-0358FD2EDAEF}"/>
              </a:ext>
            </a:extLst>
          </p:cNvPr>
          <p:cNvCxnSpPr>
            <a:cxnSpLocks/>
          </p:cNvCxnSpPr>
          <p:nvPr/>
        </p:nvCxnSpPr>
        <p:spPr>
          <a:xfrm>
            <a:off x="332157" y="875288"/>
            <a:ext cx="12192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DA065773-9CB0-4F27-B751-4A37DE4B151B}"/>
              </a:ext>
            </a:extLst>
          </p:cNvPr>
          <p:cNvSpPr/>
          <p:nvPr/>
        </p:nvSpPr>
        <p:spPr>
          <a:xfrm>
            <a:off x="5481386" y="7192654"/>
            <a:ext cx="333594" cy="286604"/>
          </a:xfrm>
          <a:prstGeom prst="rect">
            <a:avLst/>
          </a:prstGeom>
          <a:solidFill>
            <a:srgbClr val="B272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E2C4A4-95C8-4BF8-AAB0-95B3118D994D}"/>
              </a:ext>
            </a:extLst>
          </p:cNvPr>
          <p:cNvSpPr/>
          <p:nvPr/>
        </p:nvSpPr>
        <p:spPr>
          <a:xfrm>
            <a:off x="4955547" y="7192654"/>
            <a:ext cx="333594" cy="286604"/>
          </a:xfrm>
          <a:prstGeom prst="rect">
            <a:avLst/>
          </a:prstGeom>
          <a:solidFill>
            <a:srgbClr val="3737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CB57BC-A4ED-4A42-8824-367ADB0DF803}"/>
              </a:ext>
            </a:extLst>
          </p:cNvPr>
          <p:cNvSpPr/>
          <p:nvPr/>
        </p:nvSpPr>
        <p:spPr>
          <a:xfrm>
            <a:off x="6699861" y="7192654"/>
            <a:ext cx="333594" cy="286604"/>
          </a:xfrm>
          <a:prstGeom prst="rect">
            <a:avLst/>
          </a:prstGeom>
          <a:solidFill>
            <a:srgbClr val="0F30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CE30460-38B3-475A-A2B7-B0914C420235}"/>
              </a:ext>
            </a:extLst>
          </p:cNvPr>
          <p:cNvSpPr/>
          <p:nvPr/>
        </p:nvSpPr>
        <p:spPr>
          <a:xfrm>
            <a:off x="6007225" y="7192654"/>
            <a:ext cx="333594" cy="286604"/>
          </a:xfrm>
          <a:prstGeom prst="rect">
            <a:avLst/>
          </a:prstGeom>
          <a:solidFill>
            <a:srgbClr val="C824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82D5E41-A6BE-4845-90C2-A7FC659F12B5}"/>
              </a:ext>
            </a:extLst>
          </p:cNvPr>
          <p:cNvSpPr/>
          <p:nvPr/>
        </p:nvSpPr>
        <p:spPr>
          <a:xfrm>
            <a:off x="7260349" y="7192654"/>
            <a:ext cx="333594" cy="286604"/>
          </a:xfrm>
          <a:prstGeom prst="rect">
            <a:avLst/>
          </a:prstGeom>
          <a:solidFill>
            <a:srgbClr val="F2E5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: Rounded Corners 92">
            <a:extLst>
              <a:ext uri="{FF2B5EF4-FFF2-40B4-BE49-F238E27FC236}">
                <a16:creationId xmlns:a16="http://schemas.microsoft.com/office/drawing/2014/main" id="{DE26FAFE-F05E-4B64-AD03-0290DF9A20B8}"/>
              </a:ext>
            </a:extLst>
          </p:cNvPr>
          <p:cNvSpPr/>
          <p:nvPr/>
        </p:nvSpPr>
        <p:spPr>
          <a:xfrm>
            <a:off x="909353" y="0"/>
            <a:ext cx="12182330" cy="6858000"/>
          </a:xfrm>
          <a:prstGeom prst="roundRect">
            <a:avLst>
              <a:gd name="adj" fmla="val 2367"/>
            </a:avLst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127000" dist="76200" dir="10800000" sx="101000" sy="101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cxnSp>
        <p:nvCxnSpPr>
          <p:cNvPr id="14" name="2Straight Connector">
            <a:extLst>
              <a:ext uri="{FF2B5EF4-FFF2-40B4-BE49-F238E27FC236}">
                <a16:creationId xmlns:a16="http://schemas.microsoft.com/office/drawing/2014/main" id="{8C9EB5B4-7924-493B-BEF7-8953DDEE34CE}"/>
              </a:ext>
            </a:extLst>
          </p:cNvPr>
          <p:cNvCxnSpPr>
            <a:cxnSpLocks/>
          </p:cNvCxnSpPr>
          <p:nvPr/>
        </p:nvCxnSpPr>
        <p:spPr>
          <a:xfrm>
            <a:off x="994551" y="875288"/>
            <a:ext cx="12192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93">
            <a:extLst>
              <a:ext uri="{FF2B5EF4-FFF2-40B4-BE49-F238E27FC236}">
                <a16:creationId xmlns:a16="http://schemas.microsoft.com/office/drawing/2014/main" id="{F1EA363D-BF3D-4981-BF93-2C7755BC7668}"/>
              </a:ext>
            </a:extLst>
          </p:cNvPr>
          <p:cNvSpPr/>
          <p:nvPr/>
        </p:nvSpPr>
        <p:spPr>
          <a:xfrm>
            <a:off x="1536312" y="0"/>
            <a:ext cx="12182331" cy="6858000"/>
          </a:xfrm>
          <a:prstGeom prst="roundRect">
            <a:avLst>
              <a:gd name="adj" fmla="val 2754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 smtClean="0"/>
          </a:p>
          <a:p>
            <a:pPr algn="ctr"/>
            <a:endParaRPr lang="en-IN" dirty="0" smtClean="0"/>
          </a:p>
          <a:p>
            <a:pPr algn="ctr"/>
            <a:endParaRPr lang="en-IN" dirty="0"/>
          </a:p>
        </p:txBody>
      </p:sp>
      <p:sp>
        <p:nvSpPr>
          <p:cNvPr id="16" name="3Title">
            <a:extLst>
              <a:ext uri="{FF2B5EF4-FFF2-40B4-BE49-F238E27FC236}">
                <a16:creationId xmlns:a16="http://schemas.microsoft.com/office/drawing/2014/main" id="{52029D20-3635-4BF0-88E9-919F77A59C98}"/>
              </a:ext>
            </a:extLst>
          </p:cNvPr>
          <p:cNvSpPr txBox="1"/>
          <p:nvPr/>
        </p:nvSpPr>
        <p:spPr>
          <a:xfrm>
            <a:off x="2289493" y="-107951"/>
            <a:ext cx="62123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4000" b="1" dirty="0" smtClean="0"/>
              <a:t>Working Procedure</a:t>
            </a:r>
            <a:endParaRPr lang="en-IN" sz="4000" b="1" dirty="0"/>
          </a:p>
        </p:txBody>
      </p:sp>
      <p:sp>
        <p:nvSpPr>
          <p:cNvPr id="17" name="3Sub">
            <a:extLst>
              <a:ext uri="{FF2B5EF4-FFF2-40B4-BE49-F238E27FC236}">
                <a16:creationId xmlns:a16="http://schemas.microsoft.com/office/drawing/2014/main" id="{77F20ACB-D38D-485E-8892-09E90514B1DE}"/>
              </a:ext>
            </a:extLst>
          </p:cNvPr>
          <p:cNvSpPr txBox="1"/>
          <p:nvPr/>
        </p:nvSpPr>
        <p:spPr>
          <a:xfrm>
            <a:off x="2410517" y="519403"/>
            <a:ext cx="6250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IN" dirty="0" smtClean="0"/>
              <a:t>How does it works?</a:t>
            </a:r>
            <a:endParaRPr lang="en-IN" dirty="0"/>
          </a:p>
        </p:txBody>
      </p:sp>
      <p:cxnSp>
        <p:nvCxnSpPr>
          <p:cNvPr id="18" name="3Straight Connector">
            <a:extLst>
              <a:ext uri="{FF2B5EF4-FFF2-40B4-BE49-F238E27FC236}">
                <a16:creationId xmlns:a16="http://schemas.microsoft.com/office/drawing/2014/main" id="{D8BB44E0-7585-4BDC-BE93-099ED17B34B6}"/>
              </a:ext>
            </a:extLst>
          </p:cNvPr>
          <p:cNvCxnSpPr>
            <a:cxnSpLocks/>
          </p:cNvCxnSpPr>
          <p:nvPr/>
        </p:nvCxnSpPr>
        <p:spPr>
          <a:xfrm>
            <a:off x="1747701" y="875288"/>
            <a:ext cx="12192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94">
            <a:extLst>
              <a:ext uri="{FF2B5EF4-FFF2-40B4-BE49-F238E27FC236}">
                <a16:creationId xmlns:a16="http://schemas.microsoft.com/office/drawing/2014/main" id="{D68A4F18-CB86-4BDC-8E76-D3601D94C91D}"/>
              </a:ext>
            </a:extLst>
          </p:cNvPr>
          <p:cNvSpPr/>
          <p:nvPr/>
        </p:nvSpPr>
        <p:spPr>
          <a:xfrm>
            <a:off x="10250266" y="0"/>
            <a:ext cx="12182330" cy="6858000"/>
          </a:xfrm>
          <a:prstGeom prst="roundRect">
            <a:avLst>
              <a:gd name="adj" fmla="val 2561"/>
            </a:avLst>
          </a:prstGeom>
          <a:solidFill>
            <a:srgbClr val="0F3041"/>
          </a:solidFill>
          <a:ln>
            <a:noFill/>
          </a:ln>
          <a:effectLst>
            <a:outerShdw blurRad="127000" dist="76200" dir="10800000" sx="101000" sy="101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20" name="Rectangle: Rounded Corners 95">
            <a:extLst>
              <a:ext uri="{FF2B5EF4-FFF2-40B4-BE49-F238E27FC236}">
                <a16:creationId xmlns:a16="http://schemas.microsoft.com/office/drawing/2014/main" id="{BEA104E5-B538-413B-A27D-447E7819706F}"/>
              </a:ext>
            </a:extLst>
          </p:cNvPr>
          <p:cNvSpPr/>
          <p:nvPr/>
        </p:nvSpPr>
        <p:spPr>
          <a:xfrm>
            <a:off x="11070029" y="0"/>
            <a:ext cx="12182331" cy="6858000"/>
          </a:xfrm>
          <a:prstGeom prst="roundRect">
            <a:avLst>
              <a:gd name="adj" fmla="val 2561"/>
            </a:avLst>
          </a:prstGeom>
          <a:solidFill>
            <a:srgbClr val="F2E5B9"/>
          </a:solidFill>
          <a:ln>
            <a:noFill/>
          </a:ln>
          <a:effectLst>
            <a:outerShdw blurRad="127000" dist="76200" dir="10800000" sx="101000" sy="101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grpSp>
        <p:nvGrpSpPr>
          <p:cNvPr id="21" name="object 12"/>
          <p:cNvGrpSpPr/>
          <p:nvPr/>
        </p:nvGrpSpPr>
        <p:grpSpPr>
          <a:xfrm>
            <a:off x="-262279" y="7135808"/>
            <a:ext cx="327487" cy="94304"/>
            <a:chOff x="1234034" y="9136288"/>
            <a:chExt cx="455930" cy="114300"/>
          </a:xfrm>
        </p:grpSpPr>
        <p:sp>
          <p:nvSpPr>
            <p:cNvPr id="22" name="object 13"/>
            <p:cNvSpPr/>
            <p:nvPr/>
          </p:nvSpPr>
          <p:spPr>
            <a:xfrm>
              <a:off x="1575316" y="9136288"/>
              <a:ext cx="114299" cy="11429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sp>
          <p:nvSpPr>
            <p:cNvPr id="23" name="object 14"/>
            <p:cNvSpPr/>
            <p:nvPr/>
          </p:nvSpPr>
          <p:spPr>
            <a:xfrm>
              <a:off x="1404676" y="9136288"/>
              <a:ext cx="114299" cy="11429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sp>
          <p:nvSpPr>
            <p:cNvPr id="24" name="object 15"/>
            <p:cNvSpPr/>
            <p:nvPr/>
          </p:nvSpPr>
          <p:spPr>
            <a:xfrm>
              <a:off x="1234034" y="9136288"/>
              <a:ext cx="114299" cy="11429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00"/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2286002" y="1264025"/>
            <a:ext cx="7153834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smtClean="0">
                <a:latin typeface="Maven Pro" pitchFamily="2" charset="0"/>
              </a:rPr>
              <a:t>Based on the distance calculated, </a:t>
            </a:r>
            <a:r>
              <a:rPr lang="en-US" dirty="0" err="1" smtClean="0">
                <a:latin typeface="Maven Pro" pitchFamily="2" charset="0"/>
              </a:rPr>
              <a:t>Arduino</a:t>
            </a:r>
            <a:r>
              <a:rPr lang="en-US" dirty="0" smtClean="0">
                <a:latin typeface="Maven Pro" pitchFamily="2" charset="0"/>
              </a:rPr>
              <a:t> sends pulse to H-bridge motor drive. </a:t>
            </a:r>
          </a:p>
          <a:p>
            <a:pPr algn="just"/>
            <a:r>
              <a:rPr lang="en-US" dirty="0" smtClean="0">
                <a:latin typeface="Maven Pro" pitchFamily="2" charset="0"/>
              </a:rPr>
              <a:t>	</a:t>
            </a:r>
          </a:p>
          <a:p>
            <a:pPr algn="just"/>
            <a:r>
              <a:rPr lang="en-US" dirty="0" smtClean="0">
                <a:latin typeface="Maven Pro" pitchFamily="2" charset="0"/>
              </a:rPr>
              <a:t>H-bridge Motor driver controls the rotation of Motors. According to the pulse received from </a:t>
            </a:r>
            <a:r>
              <a:rPr lang="en-US" dirty="0" err="1" smtClean="0">
                <a:latin typeface="Maven Pro" pitchFamily="2" charset="0"/>
              </a:rPr>
              <a:t>Arduino</a:t>
            </a:r>
            <a:r>
              <a:rPr lang="en-US" dirty="0" smtClean="0">
                <a:latin typeface="Maven Pro" pitchFamily="2" charset="0"/>
              </a:rPr>
              <a:t>, it rotates DC Motor either Clockwise or Anti-clockwise or make it off. </a:t>
            </a:r>
          </a:p>
          <a:p>
            <a:pPr algn="just"/>
            <a:endParaRPr lang="en-US" dirty="0" smtClean="0">
              <a:latin typeface="Maven Pro" pitchFamily="2" charset="0"/>
            </a:endParaRPr>
          </a:p>
          <a:p>
            <a:pPr algn="just"/>
            <a:r>
              <a:rPr lang="en-US" dirty="0" smtClean="0">
                <a:latin typeface="Maven Pro" pitchFamily="2" charset="0"/>
              </a:rPr>
              <a:t>	if distance is greater than 20 </a:t>
            </a:r>
          </a:p>
          <a:p>
            <a:pPr algn="just"/>
            <a:r>
              <a:rPr lang="en-US" dirty="0" smtClean="0">
                <a:latin typeface="Maven Pro" pitchFamily="2" charset="0"/>
              </a:rPr>
              <a:t>		Both motor on – Clockwise </a:t>
            </a:r>
          </a:p>
          <a:p>
            <a:pPr algn="just"/>
            <a:r>
              <a:rPr lang="en-US" dirty="0" smtClean="0">
                <a:latin typeface="Maven Pro" pitchFamily="2" charset="0"/>
              </a:rPr>
              <a:t>	if distance is lesser than or equal to 20 </a:t>
            </a:r>
          </a:p>
          <a:p>
            <a:pPr algn="just"/>
            <a:r>
              <a:rPr lang="en-US" dirty="0" smtClean="0">
                <a:latin typeface="Maven Pro" pitchFamily="2" charset="0"/>
              </a:rPr>
              <a:t>		step 01 – Stop Motor </a:t>
            </a:r>
          </a:p>
          <a:p>
            <a:pPr algn="just"/>
            <a:r>
              <a:rPr lang="en-US" dirty="0" smtClean="0">
                <a:latin typeface="Maven Pro" pitchFamily="2" charset="0"/>
              </a:rPr>
              <a:t>		step 02 – Motor on – Anti-Clockwise</a:t>
            </a:r>
          </a:p>
          <a:p>
            <a:pPr algn="just"/>
            <a:r>
              <a:rPr lang="en-US" dirty="0" smtClean="0">
                <a:latin typeface="Maven Pro" pitchFamily="2" charset="0"/>
              </a:rPr>
              <a:t>		step 03 – Stop Motor</a:t>
            </a:r>
          </a:p>
          <a:p>
            <a:pPr algn="just"/>
            <a:r>
              <a:rPr lang="en-US" dirty="0" smtClean="0">
                <a:latin typeface="Maven Pro" pitchFamily="2" charset="0"/>
              </a:rPr>
              <a:t>		step 04 – Move left Motor to turn right</a:t>
            </a:r>
          </a:p>
          <a:p>
            <a:pPr algn="just"/>
            <a:endParaRPr lang="en-US" dirty="0" smtClean="0">
              <a:latin typeface="Maven Pro" pitchFamily="2" charset="0"/>
            </a:endParaRPr>
          </a:p>
          <a:p>
            <a:pPr algn="just"/>
            <a:endParaRPr lang="en-US" dirty="0" smtClean="0">
              <a:latin typeface="Maven Pro" pitchFamily="2" charset="0"/>
            </a:endParaRPr>
          </a:p>
          <a:p>
            <a:pPr algn="just"/>
            <a:r>
              <a:rPr lang="en-US" dirty="0" smtClean="0">
                <a:latin typeface="Maven Pro" pitchFamily="2" charset="0"/>
              </a:rPr>
              <a:t>At the same time, 16*2 LCD  screen shows the current situation of system on its screen. </a:t>
            </a:r>
          </a:p>
          <a:p>
            <a:pPr algn="just"/>
            <a:endParaRPr lang="en-US" dirty="0" smtClean="0">
              <a:latin typeface="Maven Pro" pitchFamily="2" charset="0"/>
            </a:endParaRPr>
          </a:p>
          <a:p>
            <a:pPr algn="just"/>
            <a:endParaRPr lang="en-US" dirty="0" smtClean="0">
              <a:latin typeface="Maven Pro" pitchFamily="2" charset="0"/>
            </a:endParaRPr>
          </a:p>
          <a:p>
            <a:pPr algn="just"/>
            <a:endParaRPr lang="en-US" dirty="0" smtClean="0">
              <a:latin typeface="Maven Pro" pitchFamily="2" charset="0"/>
            </a:endParaRPr>
          </a:p>
          <a:p>
            <a:pPr algn="just"/>
            <a:r>
              <a:rPr lang="en-US" dirty="0" smtClean="0">
                <a:latin typeface="Maven Pro" pitchFamily="2" charset="0"/>
              </a:rPr>
              <a:t> </a:t>
            </a:r>
          </a:p>
          <a:p>
            <a:pPr algn="just"/>
            <a:endParaRPr lang="en-US" dirty="0" smtClean="0">
              <a:latin typeface="Maven Pro" pitchFamily="2" charset="0"/>
            </a:endParaRPr>
          </a:p>
          <a:p>
            <a:pPr algn="just"/>
            <a:endParaRPr lang="en-US" dirty="0" smtClean="0">
              <a:latin typeface="Maven Pro" pitchFamily="2" charset="0"/>
            </a:endParaRPr>
          </a:p>
          <a:p>
            <a:pPr algn="just"/>
            <a:endParaRPr lang="en-US" dirty="0">
              <a:latin typeface="Maven Pro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41">
            <a:extLst>
              <a:ext uri="{FF2B5EF4-FFF2-40B4-BE49-F238E27FC236}">
                <a16:creationId xmlns:a16="http://schemas.microsoft.com/office/drawing/2014/main" id="{9A9867F0-101B-4D02-967B-B5AA96F2DD93}"/>
              </a:ext>
            </a:extLst>
          </p:cNvPr>
          <p:cNvSpPr txBox="1"/>
          <p:nvPr/>
        </p:nvSpPr>
        <p:spPr>
          <a:xfrm>
            <a:off x="645420" y="1927521"/>
            <a:ext cx="371487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0F304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Business Presentation</a:t>
            </a:r>
            <a:endParaRPr lang="en-IN" sz="4800" dirty="0">
              <a:solidFill>
                <a:srgbClr val="0F304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98" name="Graphic 97" descr="Presentation with pie chart">
            <a:extLst>
              <a:ext uri="{FF2B5EF4-FFF2-40B4-BE49-F238E27FC236}">
                <a16:creationId xmlns:a16="http://schemas.microsoft.com/office/drawing/2014/main" id="{DEC24B35-08EC-4D29-AB9E-02E688BAA8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645419" y="4075330"/>
            <a:ext cx="1680685" cy="1680685"/>
          </a:xfrm>
          <a:prstGeom prst="rect">
            <a:avLst/>
          </a:prstGeom>
        </p:spPr>
      </p:pic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A496CE44-7FD9-48FF-89D1-E8B659079234}"/>
              </a:ext>
            </a:extLst>
          </p:cNvPr>
          <p:cNvSpPr/>
          <p:nvPr/>
        </p:nvSpPr>
        <p:spPr>
          <a:xfrm>
            <a:off x="282393" y="0"/>
            <a:ext cx="12182331" cy="6858000"/>
          </a:xfrm>
          <a:prstGeom prst="roundRect">
            <a:avLst>
              <a:gd name="adj" fmla="val 1981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127000" dist="76200" dir="10800000" sx="101000" sy="101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cxnSp>
        <p:nvCxnSpPr>
          <p:cNvPr id="28" name="1Straight Connector">
            <a:extLst>
              <a:ext uri="{FF2B5EF4-FFF2-40B4-BE49-F238E27FC236}">
                <a16:creationId xmlns:a16="http://schemas.microsoft.com/office/drawing/2014/main" id="{D59E6565-C9FA-4794-A440-0358FD2EDAEF}"/>
              </a:ext>
            </a:extLst>
          </p:cNvPr>
          <p:cNvCxnSpPr>
            <a:cxnSpLocks/>
          </p:cNvCxnSpPr>
          <p:nvPr/>
        </p:nvCxnSpPr>
        <p:spPr>
          <a:xfrm>
            <a:off x="332157" y="875288"/>
            <a:ext cx="12192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DA065773-9CB0-4F27-B751-4A37DE4B151B}"/>
              </a:ext>
            </a:extLst>
          </p:cNvPr>
          <p:cNvSpPr/>
          <p:nvPr/>
        </p:nvSpPr>
        <p:spPr>
          <a:xfrm>
            <a:off x="5481386" y="7192654"/>
            <a:ext cx="333594" cy="286604"/>
          </a:xfrm>
          <a:prstGeom prst="rect">
            <a:avLst/>
          </a:prstGeom>
          <a:solidFill>
            <a:srgbClr val="B272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E2C4A4-95C8-4BF8-AAB0-95B3118D994D}"/>
              </a:ext>
            </a:extLst>
          </p:cNvPr>
          <p:cNvSpPr/>
          <p:nvPr/>
        </p:nvSpPr>
        <p:spPr>
          <a:xfrm>
            <a:off x="4955547" y="7192654"/>
            <a:ext cx="333594" cy="286604"/>
          </a:xfrm>
          <a:prstGeom prst="rect">
            <a:avLst/>
          </a:prstGeom>
          <a:solidFill>
            <a:srgbClr val="3737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CB57BC-A4ED-4A42-8824-367ADB0DF803}"/>
              </a:ext>
            </a:extLst>
          </p:cNvPr>
          <p:cNvSpPr/>
          <p:nvPr/>
        </p:nvSpPr>
        <p:spPr>
          <a:xfrm>
            <a:off x="6699861" y="7192654"/>
            <a:ext cx="333594" cy="286604"/>
          </a:xfrm>
          <a:prstGeom prst="rect">
            <a:avLst/>
          </a:prstGeom>
          <a:solidFill>
            <a:srgbClr val="0F30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CE30460-38B3-475A-A2B7-B0914C420235}"/>
              </a:ext>
            </a:extLst>
          </p:cNvPr>
          <p:cNvSpPr/>
          <p:nvPr/>
        </p:nvSpPr>
        <p:spPr>
          <a:xfrm>
            <a:off x="6007225" y="7192654"/>
            <a:ext cx="333594" cy="286604"/>
          </a:xfrm>
          <a:prstGeom prst="rect">
            <a:avLst/>
          </a:prstGeom>
          <a:solidFill>
            <a:srgbClr val="C824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2D5E41-A6BE-4845-90C2-A7FC659F12B5}"/>
              </a:ext>
            </a:extLst>
          </p:cNvPr>
          <p:cNvSpPr/>
          <p:nvPr/>
        </p:nvSpPr>
        <p:spPr>
          <a:xfrm>
            <a:off x="7260349" y="7192654"/>
            <a:ext cx="333594" cy="286604"/>
          </a:xfrm>
          <a:prstGeom prst="rect">
            <a:avLst/>
          </a:prstGeom>
          <a:solidFill>
            <a:srgbClr val="F2E5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DE26FAFE-F05E-4B64-AD03-0290DF9A20B8}"/>
              </a:ext>
            </a:extLst>
          </p:cNvPr>
          <p:cNvSpPr/>
          <p:nvPr/>
        </p:nvSpPr>
        <p:spPr>
          <a:xfrm>
            <a:off x="645420" y="0"/>
            <a:ext cx="12182330" cy="6858000"/>
          </a:xfrm>
          <a:prstGeom prst="roundRect">
            <a:avLst>
              <a:gd name="adj" fmla="val 1788"/>
            </a:avLst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127000" dist="76200" dir="10800000" sx="101000" sy="101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cxnSp>
        <p:nvCxnSpPr>
          <p:cNvPr id="35" name="2Straight Connector">
            <a:extLst>
              <a:ext uri="{FF2B5EF4-FFF2-40B4-BE49-F238E27FC236}">
                <a16:creationId xmlns:a16="http://schemas.microsoft.com/office/drawing/2014/main" id="{8C9EB5B4-7924-493B-BEF7-8953DDEE34CE}"/>
              </a:ext>
            </a:extLst>
          </p:cNvPr>
          <p:cNvCxnSpPr>
            <a:cxnSpLocks/>
          </p:cNvCxnSpPr>
          <p:nvPr/>
        </p:nvCxnSpPr>
        <p:spPr>
          <a:xfrm>
            <a:off x="994551" y="875288"/>
            <a:ext cx="12192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F1EA363D-BF3D-4981-BF93-2C7755BC7668}"/>
              </a:ext>
            </a:extLst>
          </p:cNvPr>
          <p:cNvSpPr/>
          <p:nvPr/>
        </p:nvSpPr>
        <p:spPr>
          <a:xfrm>
            <a:off x="1070557" y="-19449"/>
            <a:ext cx="12182331" cy="6858000"/>
          </a:xfrm>
          <a:prstGeom prst="roundRect">
            <a:avLst>
              <a:gd name="adj" fmla="val 3334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27000" dist="76200" dir="10800000" sx="101000" sy="101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cxnSp>
        <p:nvCxnSpPr>
          <p:cNvPr id="43" name="3Straight Connector">
            <a:extLst>
              <a:ext uri="{FF2B5EF4-FFF2-40B4-BE49-F238E27FC236}">
                <a16:creationId xmlns:a16="http://schemas.microsoft.com/office/drawing/2014/main" id="{D8BB44E0-7585-4BDC-BE93-099ED17B34B6}"/>
              </a:ext>
            </a:extLst>
          </p:cNvPr>
          <p:cNvCxnSpPr>
            <a:cxnSpLocks/>
          </p:cNvCxnSpPr>
          <p:nvPr/>
        </p:nvCxnSpPr>
        <p:spPr>
          <a:xfrm>
            <a:off x="1747701" y="875288"/>
            <a:ext cx="12192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D68A4F18-CB86-4BDC-8E76-D3601D94C91D}"/>
              </a:ext>
            </a:extLst>
          </p:cNvPr>
          <p:cNvSpPr/>
          <p:nvPr/>
        </p:nvSpPr>
        <p:spPr>
          <a:xfrm>
            <a:off x="1502778" y="-63109"/>
            <a:ext cx="12182330" cy="6858000"/>
          </a:xfrm>
          <a:prstGeom prst="roundRect">
            <a:avLst>
              <a:gd name="adj" fmla="val 4493"/>
            </a:avLst>
          </a:prstGeom>
          <a:solidFill>
            <a:srgbClr val="0F3041"/>
          </a:solidFill>
          <a:ln>
            <a:noFill/>
          </a:ln>
          <a:effectLst>
            <a:outerShdw blurRad="127000" dist="76200" dir="10800000" sx="101000" sy="101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47" name="4Title">
            <a:extLst>
              <a:ext uri="{FF2B5EF4-FFF2-40B4-BE49-F238E27FC236}">
                <a16:creationId xmlns:a16="http://schemas.microsoft.com/office/drawing/2014/main" id="{B86764B7-340F-4F28-97E5-6C21F34AC8D5}"/>
              </a:ext>
            </a:extLst>
          </p:cNvPr>
          <p:cNvSpPr txBox="1"/>
          <p:nvPr/>
        </p:nvSpPr>
        <p:spPr>
          <a:xfrm>
            <a:off x="3050150" y="-107951"/>
            <a:ext cx="37909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Circuit Design</a:t>
            </a:r>
            <a:endParaRPr kumimoji="0" lang="en-IN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4Sub">
            <a:extLst>
              <a:ext uri="{FF2B5EF4-FFF2-40B4-BE49-F238E27FC236}">
                <a16:creationId xmlns:a16="http://schemas.microsoft.com/office/drawing/2014/main" id="{FE2F1F68-1D0C-4326-A4E5-EBA314E88191}"/>
              </a:ext>
            </a:extLst>
          </p:cNvPr>
          <p:cNvSpPr txBox="1"/>
          <p:nvPr/>
        </p:nvSpPr>
        <p:spPr>
          <a:xfrm>
            <a:off x="3135878" y="505956"/>
            <a:ext cx="6250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dirty="0">
                <a:solidFill>
                  <a:prstClr val="white"/>
                </a:solidFill>
                <a:latin typeface="Calibri" panose="020F0502020204030204"/>
              </a:rPr>
              <a:t>This is our circuit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5" name="4Straight Connector">
            <a:extLst>
              <a:ext uri="{FF2B5EF4-FFF2-40B4-BE49-F238E27FC236}">
                <a16:creationId xmlns:a16="http://schemas.microsoft.com/office/drawing/2014/main" id="{5EE04C56-8A31-4813-8A5B-744BA64C6A36}"/>
              </a:ext>
            </a:extLst>
          </p:cNvPr>
          <p:cNvCxnSpPr>
            <a:cxnSpLocks/>
          </p:cNvCxnSpPr>
          <p:nvPr/>
        </p:nvCxnSpPr>
        <p:spPr>
          <a:xfrm>
            <a:off x="2424845" y="875288"/>
            <a:ext cx="12192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BEA104E5-B538-413B-A27D-447E7819706F}"/>
              </a:ext>
            </a:extLst>
          </p:cNvPr>
          <p:cNvSpPr/>
          <p:nvPr/>
        </p:nvSpPr>
        <p:spPr>
          <a:xfrm>
            <a:off x="11070029" y="0"/>
            <a:ext cx="12182331" cy="6858000"/>
          </a:xfrm>
          <a:prstGeom prst="roundRect">
            <a:avLst>
              <a:gd name="adj" fmla="val 1788"/>
            </a:avLst>
          </a:prstGeom>
          <a:solidFill>
            <a:srgbClr val="F2E5B9"/>
          </a:solidFill>
          <a:ln>
            <a:noFill/>
          </a:ln>
          <a:effectLst>
            <a:outerShdw blurRad="127000" dist="76200" dir="10800000" sx="101000" sy="101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11" r="12216"/>
          <a:stretch/>
        </p:blipFill>
        <p:spPr>
          <a:xfrm>
            <a:off x="2128731" y="1521619"/>
            <a:ext cx="8237606" cy="459151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1523254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WhatsApp Video 2022-04-24 at 2.47.52 AM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-150861" y="0"/>
            <a:ext cx="128681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4345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A496CE44-7FD9-48FF-89D1-E8B659079234}"/>
              </a:ext>
            </a:extLst>
          </p:cNvPr>
          <p:cNvSpPr/>
          <p:nvPr/>
        </p:nvSpPr>
        <p:spPr>
          <a:xfrm>
            <a:off x="304075" y="0"/>
            <a:ext cx="12182331" cy="6858000"/>
          </a:xfrm>
          <a:prstGeom prst="roundRect">
            <a:avLst>
              <a:gd name="adj" fmla="val 1981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127000" dist="76200" dir="10800000" sx="101000" sy="101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cxnSp>
        <p:nvCxnSpPr>
          <p:cNvPr id="28" name="1Straight Connector">
            <a:extLst>
              <a:ext uri="{FF2B5EF4-FFF2-40B4-BE49-F238E27FC236}">
                <a16:creationId xmlns:a16="http://schemas.microsoft.com/office/drawing/2014/main" id="{D59E6565-C9FA-4794-A440-0358FD2EDAEF}"/>
              </a:ext>
            </a:extLst>
          </p:cNvPr>
          <p:cNvCxnSpPr>
            <a:cxnSpLocks/>
          </p:cNvCxnSpPr>
          <p:nvPr/>
        </p:nvCxnSpPr>
        <p:spPr>
          <a:xfrm>
            <a:off x="332157" y="875288"/>
            <a:ext cx="12192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DA065773-9CB0-4F27-B751-4A37DE4B151B}"/>
              </a:ext>
            </a:extLst>
          </p:cNvPr>
          <p:cNvSpPr/>
          <p:nvPr/>
        </p:nvSpPr>
        <p:spPr>
          <a:xfrm>
            <a:off x="5481386" y="7192654"/>
            <a:ext cx="333594" cy="286604"/>
          </a:xfrm>
          <a:prstGeom prst="rect">
            <a:avLst/>
          </a:prstGeom>
          <a:solidFill>
            <a:srgbClr val="B272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E2C4A4-95C8-4BF8-AAB0-95B3118D994D}"/>
              </a:ext>
            </a:extLst>
          </p:cNvPr>
          <p:cNvSpPr/>
          <p:nvPr/>
        </p:nvSpPr>
        <p:spPr>
          <a:xfrm>
            <a:off x="4955547" y="7192654"/>
            <a:ext cx="333594" cy="286604"/>
          </a:xfrm>
          <a:prstGeom prst="rect">
            <a:avLst/>
          </a:prstGeom>
          <a:solidFill>
            <a:srgbClr val="3737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CB57BC-A4ED-4A42-8824-367ADB0DF803}"/>
              </a:ext>
            </a:extLst>
          </p:cNvPr>
          <p:cNvSpPr/>
          <p:nvPr/>
        </p:nvSpPr>
        <p:spPr>
          <a:xfrm>
            <a:off x="6699861" y="7192654"/>
            <a:ext cx="333594" cy="286604"/>
          </a:xfrm>
          <a:prstGeom prst="rect">
            <a:avLst/>
          </a:prstGeom>
          <a:solidFill>
            <a:srgbClr val="0F30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CE30460-38B3-475A-A2B7-B0914C420235}"/>
              </a:ext>
            </a:extLst>
          </p:cNvPr>
          <p:cNvSpPr/>
          <p:nvPr/>
        </p:nvSpPr>
        <p:spPr>
          <a:xfrm>
            <a:off x="6007225" y="7192654"/>
            <a:ext cx="333594" cy="286604"/>
          </a:xfrm>
          <a:prstGeom prst="rect">
            <a:avLst/>
          </a:prstGeom>
          <a:solidFill>
            <a:srgbClr val="C824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2D5E41-A6BE-4845-90C2-A7FC659F12B5}"/>
              </a:ext>
            </a:extLst>
          </p:cNvPr>
          <p:cNvSpPr/>
          <p:nvPr/>
        </p:nvSpPr>
        <p:spPr>
          <a:xfrm>
            <a:off x="7260349" y="7192654"/>
            <a:ext cx="333594" cy="286604"/>
          </a:xfrm>
          <a:prstGeom prst="rect">
            <a:avLst/>
          </a:prstGeom>
          <a:solidFill>
            <a:srgbClr val="F2E5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DE26FAFE-F05E-4B64-AD03-0290DF9A20B8}"/>
              </a:ext>
            </a:extLst>
          </p:cNvPr>
          <p:cNvSpPr/>
          <p:nvPr/>
        </p:nvSpPr>
        <p:spPr>
          <a:xfrm>
            <a:off x="668168" y="12289"/>
            <a:ext cx="12182330" cy="6858000"/>
          </a:xfrm>
          <a:prstGeom prst="roundRect">
            <a:avLst>
              <a:gd name="adj" fmla="val 3913"/>
            </a:avLst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127000" dist="76200" dir="10800000" sx="101000" sy="101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cxnSp>
        <p:nvCxnSpPr>
          <p:cNvPr id="35" name="2Straight Connector">
            <a:extLst>
              <a:ext uri="{FF2B5EF4-FFF2-40B4-BE49-F238E27FC236}">
                <a16:creationId xmlns:a16="http://schemas.microsoft.com/office/drawing/2014/main" id="{8C9EB5B4-7924-493B-BEF7-8953DDEE34CE}"/>
              </a:ext>
            </a:extLst>
          </p:cNvPr>
          <p:cNvCxnSpPr>
            <a:cxnSpLocks/>
          </p:cNvCxnSpPr>
          <p:nvPr/>
        </p:nvCxnSpPr>
        <p:spPr>
          <a:xfrm>
            <a:off x="994551" y="875288"/>
            <a:ext cx="12192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F1EA363D-BF3D-4981-BF93-2C7755BC7668}"/>
              </a:ext>
            </a:extLst>
          </p:cNvPr>
          <p:cNvSpPr/>
          <p:nvPr/>
        </p:nvSpPr>
        <p:spPr>
          <a:xfrm>
            <a:off x="1121283" y="32572"/>
            <a:ext cx="12182331" cy="6858000"/>
          </a:xfrm>
          <a:prstGeom prst="roundRect">
            <a:avLst>
              <a:gd name="adj" fmla="val 3913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27000" dist="76200" dir="10800000" sx="101000" sy="101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cxnSp>
        <p:nvCxnSpPr>
          <p:cNvPr id="43" name="3Straight Connector">
            <a:extLst>
              <a:ext uri="{FF2B5EF4-FFF2-40B4-BE49-F238E27FC236}">
                <a16:creationId xmlns:a16="http://schemas.microsoft.com/office/drawing/2014/main" id="{D8BB44E0-7585-4BDC-BE93-099ED17B34B6}"/>
              </a:ext>
            </a:extLst>
          </p:cNvPr>
          <p:cNvCxnSpPr>
            <a:cxnSpLocks/>
          </p:cNvCxnSpPr>
          <p:nvPr/>
        </p:nvCxnSpPr>
        <p:spPr>
          <a:xfrm>
            <a:off x="1747701" y="875288"/>
            <a:ext cx="12192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D68A4F18-CB86-4BDC-8E76-D3601D94C91D}"/>
              </a:ext>
            </a:extLst>
          </p:cNvPr>
          <p:cNvSpPr/>
          <p:nvPr/>
        </p:nvSpPr>
        <p:spPr>
          <a:xfrm>
            <a:off x="1439328" y="10142"/>
            <a:ext cx="12182330" cy="6858000"/>
          </a:xfrm>
          <a:prstGeom prst="roundRect">
            <a:avLst>
              <a:gd name="adj" fmla="val 4493"/>
            </a:avLst>
          </a:prstGeom>
          <a:solidFill>
            <a:srgbClr val="0F3041"/>
          </a:solidFill>
          <a:ln>
            <a:noFill/>
          </a:ln>
          <a:effectLst>
            <a:outerShdw blurRad="127000" dist="76200" dir="10800000" sx="101000" sy="101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cxnSp>
        <p:nvCxnSpPr>
          <p:cNvPr id="55" name="4Straight Connector">
            <a:extLst>
              <a:ext uri="{FF2B5EF4-FFF2-40B4-BE49-F238E27FC236}">
                <a16:creationId xmlns:a16="http://schemas.microsoft.com/office/drawing/2014/main" id="{5EE04C56-8A31-4813-8A5B-744BA64C6A36}"/>
              </a:ext>
            </a:extLst>
          </p:cNvPr>
          <p:cNvCxnSpPr>
            <a:cxnSpLocks/>
          </p:cNvCxnSpPr>
          <p:nvPr/>
        </p:nvCxnSpPr>
        <p:spPr>
          <a:xfrm>
            <a:off x="2424845" y="875288"/>
            <a:ext cx="12192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BEA104E5-B538-413B-A27D-447E7819706F}"/>
              </a:ext>
            </a:extLst>
          </p:cNvPr>
          <p:cNvSpPr/>
          <p:nvPr/>
        </p:nvSpPr>
        <p:spPr>
          <a:xfrm>
            <a:off x="1734369" y="0"/>
            <a:ext cx="12182331" cy="6858000"/>
          </a:xfrm>
          <a:prstGeom prst="roundRect">
            <a:avLst>
              <a:gd name="adj" fmla="val 2947"/>
            </a:avLst>
          </a:prstGeom>
          <a:solidFill>
            <a:srgbClr val="F2E5B9"/>
          </a:solidFill>
          <a:ln>
            <a:noFill/>
          </a:ln>
          <a:effectLst>
            <a:outerShdw blurRad="127000" dist="76200" dir="10800000" sx="101000" sy="101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56" name="5TSub">
            <a:extLst>
              <a:ext uri="{FF2B5EF4-FFF2-40B4-BE49-F238E27FC236}">
                <a16:creationId xmlns:a16="http://schemas.microsoft.com/office/drawing/2014/main" id="{3BB38DD2-200C-48DA-84EF-A534DA2DF061}"/>
              </a:ext>
            </a:extLst>
          </p:cNvPr>
          <p:cNvSpPr txBox="1"/>
          <p:nvPr/>
        </p:nvSpPr>
        <p:spPr>
          <a:xfrm>
            <a:off x="3577971" y="505956"/>
            <a:ext cx="6330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How will we do</a:t>
            </a:r>
            <a:r>
              <a:rPr kumimoji="0" lang="en-IN" sz="18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IN" sz="1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use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this </a:t>
            </a:r>
          </a:p>
        </p:txBody>
      </p:sp>
      <p:sp>
        <p:nvSpPr>
          <p:cNvPr id="57" name="5Title">
            <a:extLst>
              <a:ext uri="{FF2B5EF4-FFF2-40B4-BE49-F238E27FC236}">
                <a16:creationId xmlns:a16="http://schemas.microsoft.com/office/drawing/2014/main" id="{75F7876B-6CD5-4DE8-94D8-7780E98E5A09}"/>
              </a:ext>
            </a:extLst>
          </p:cNvPr>
          <p:cNvSpPr txBox="1"/>
          <p:nvPr/>
        </p:nvSpPr>
        <p:spPr>
          <a:xfrm>
            <a:off x="3577970" y="-107951"/>
            <a:ext cx="44001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Advantages</a:t>
            </a:r>
            <a:endParaRPr kumimoji="0" lang="en-IN" sz="4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5TextBox">
            <a:extLst>
              <a:ext uri="{FF2B5EF4-FFF2-40B4-BE49-F238E27FC236}">
                <a16:creationId xmlns:a16="http://schemas.microsoft.com/office/drawing/2014/main" id="{EFA374BB-A6FC-47FD-B973-7987CC5CCFD9}"/>
              </a:ext>
            </a:extLst>
          </p:cNvPr>
          <p:cNvSpPr txBox="1"/>
          <p:nvPr/>
        </p:nvSpPr>
        <p:spPr>
          <a:xfrm>
            <a:off x="3658177" y="2447814"/>
            <a:ext cx="813772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Maven Pro" pitchFamily="2" charset="0"/>
              </a:rPr>
              <a:t>Ø </a:t>
            </a:r>
            <a:r>
              <a:rPr lang="en-US" sz="2000" dirty="0">
                <a:latin typeface="Maven Pro" pitchFamily="2" charset="0"/>
              </a:rPr>
              <a:t>Collision control. </a:t>
            </a:r>
          </a:p>
          <a:p>
            <a:r>
              <a:rPr lang="en-US" sz="2000" dirty="0">
                <a:latin typeface="Maven Pro" pitchFamily="2" charset="0"/>
              </a:rPr>
              <a:t>Ø It provides Safe Navigation. </a:t>
            </a:r>
          </a:p>
          <a:p>
            <a:r>
              <a:rPr lang="en-US" sz="2000" dirty="0">
                <a:latin typeface="Maven Pro" pitchFamily="2" charset="0"/>
              </a:rPr>
              <a:t>Ø This is the basic of all robot and has a wide scope of </a:t>
            </a:r>
            <a:r>
              <a:rPr lang="en-US" sz="2000" dirty="0" smtClean="0">
                <a:latin typeface="Maven Pro" pitchFamily="2" charset="0"/>
              </a:rPr>
              <a:t>extensions</a:t>
            </a:r>
          </a:p>
          <a:p>
            <a:r>
              <a:rPr lang="en-US" sz="2000" dirty="0">
                <a:latin typeface="Maven Pro" pitchFamily="2" charset="0"/>
              </a:rPr>
              <a:t>Ø </a:t>
            </a:r>
            <a:r>
              <a:rPr lang="en-US" sz="2000" dirty="0" smtClean="0">
                <a:latin typeface="Maven Pro" pitchFamily="2" charset="0"/>
              </a:rPr>
              <a:t>These system </a:t>
            </a:r>
            <a:r>
              <a:rPr lang="en-US" sz="2000" dirty="0">
                <a:latin typeface="Maven Pro" pitchFamily="2" charset="0"/>
              </a:rPr>
              <a:t>are easy and quick to compute.</a:t>
            </a:r>
          </a:p>
          <a:p>
            <a:r>
              <a:rPr lang="en-US" sz="2000" dirty="0">
                <a:latin typeface="Maven Pro" pitchFamily="2" charset="0"/>
              </a:rPr>
              <a:t>Ø </a:t>
            </a:r>
            <a:r>
              <a:rPr lang="en-US" sz="2000" dirty="0" smtClean="0">
                <a:latin typeface="Maven Pro" pitchFamily="2" charset="0"/>
              </a:rPr>
              <a:t>These </a:t>
            </a:r>
            <a:r>
              <a:rPr lang="en-US" sz="2000" dirty="0">
                <a:latin typeface="Maven Pro" pitchFamily="2" charset="0"/>
              </a:rPr>
              <a:t>are not affected by the noise in the surrounding.</a:t>
            </a:r>
          </a:p>
          <a:p>
            <a:r>
              <a:rPr lang="en-US" sz="2000" dirty="0">
                <a:latin typeface="Maven Pro" pitchFamily="2" charset="0"/>
              </a:rPr>
              <a:t>Ø </a:t>
            </a:r>
            <a:r>
              <a:rPr lang="en-US" sz="2000" dirty="0" smtClean="0">
                <a:latin typeface="Maven Pro" pitchFamily="2" charset="0"/>
              </a:rPr>
              <a:t>These </a:t>
            </a:r>
            <a:r>
              <a:rPr lang="en-US" sz="2000" dirty="0">
                <a:latin typeface="Maven Pro" pitchFamily="2" charset="0"/>
              </a:rPr>
              <a:t>can easily detect the object at a distance.</a:t>
            </a:r>
          </a:p>
          <a:p>
            <a:r>
              <a:rPr lang="en-US" sz="2000" dirty="0">
                <a:latin typeface="Maven Pro" pitchFamily="2" charset="0"/>
              </a:rPr>
              <a:t>Ø </a:t>
            </a:r>
            <a:r>
              <a:rPr lang="en-US" sz="2000" dirty="0" smtClean="0">
                <a:latin typeface="Maven Pro" pitchFamily="2" charset="0"/>
              </a:rPr>
              <a:t>These </a:t>
            </a:r>
            <a:r>
              <a:rPr lang="en-US" sz="2000" dirty="0">
                <a:latin typeface="Maven Pro" pitchFamily="2" charset="0"/>
              </a:rPr>
              <a:t>can easily detect the edges and their respective orientation. </a:t>
            </a:r>
          </a:p>
          <a:p>
            <a:r>
              <a:rPr lang="en-US" sz="2000" dirty="0">
                <a:latin typeface="Maven Pro" pitchFamily="2" charset="0"/>
              </a:rPr>
              <a:t/>
            </a:r>
            <a:br>
              <a:rPr lang="en-US" sz="2000" dirty="0">
                <a:latin typeface="Maven Pro" pitchFamily="2" charset="0"/>
              </a:rPr>
            </a:br>
            <a:endParaRPr kumimoji="0" lang="en-IN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Maven Pro" pitchFamily="2" charset="0"/>
            </a:endParaRPr>
          </a:p>
        </p:txBody>
      </p:sp>
      <p:cxnSp>
        <p:nvCxnSpPr>
          <p:cNvPr id="61" name="5Straight Connector">
            <a:extLst>
              <a:ext uri="{FF2B5EF4-FFF2-40B4-BE49-F238E27FC236}">
                <a16:creationId xmlns:a16="http://schemas.microsoft.com/office/drawing/2014/main" id="{1BE91359-CBDC-43A5-904E-9D39FC54F2FE}"/>
              </a:ext>
            </a:extLst>
          </p:cNvPr>
          <p:cNvCxnSpPr>
            <a:cxnSpLocks/>
          </p:cNvCxnSpPr>
          <p:nvPr/>
        </p:nvCxnSpPr>
        <p:spPr>
          <a:xfrm>
            <a:off x="3115321" y="875288"/>
            <a:ext cx="12192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8804A22B-6B23-4199-A2AA-C17FC9B24A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44739" y="1396020"/>
            <a:ext cx="749712" cy="749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7370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91">
            <a:extLst>
              <a:ext uri="{FF2B5EF4-FFF2-40B4-BE49-F238E27FC236}">
                <a16:creationId xmlns:a16="http://schemas.microsoft.com/office/drawing/2014/main" id="{A496CE44-7FD9-48FF-89D1-E8B659079234}"/>
              </a:ext>
            </a:extLst>
          </p:cNvPr>
          <p:cNvSpPr/>
          <p:nvPr/>
        </p:nvSpPr>
        <p:spPr>
          <a:xfrm>
            <a:off x="304075" y="0"/>
            <a:ext cx="12182331" cy="6858000"/>
          </a:xfrm>
          <a:prstGeom prst="roundRect">
            <a:avLst>
              <a:gd name="adj" fmla="val 1981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127000" dist="76200" dir="10800000" sx="101000" sy="101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cxnSp>
        <p:nvCxnSpPr>
          <p:cNvPr id="5" name="1Straight Connector">
            <a:extLst>
              <a:ext uri="{FF2B5EF4-FFF2-40B4-BE49-F238E27FC236}">
                <a16:creationId xmlns:a16="http://schemas.microsoft.com/office/drawing/2014/main" id="{D59E6565-C9FA-4794-A440-0358FD2EDAEF}"/>
              </a:ext>
            </a:extLst>
          </p:cNvPr>
          <p:cNvCxnSpPr>
            <a:cxnSpLocks/>
          </p:cNvCxnSpPr>
          <p:nvPr/>
        </p:nvCxnSpPr>
        <p:spPr>
          <a:xfrm>
            <a:off x="332157" y="875288"/>
            <a:ext cx="12192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DA065773-9CB0-4F27-B751-4A37DE4B151B}"/>
              </a:ext>
            </a:extLst>
          </p:cNvPr>
          <p:cNvSpPr/>
          <p:nvPr/>
        </p:nvSpPr>
        <p:spPr>
          <a:xfrm>
            <a:off x="5481386" y="7192654"/>
            <a:ext cx="333594" cy="286604"/>
          </a:xfrm>
          <a:prstGeom prst="rect">
            <a:avLst/>
          </a:prstGeom>
          <a:solidFill>
            <a:srgbClr val="B272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E2C4A4-95C8-4BF8-AAB0-95B3118D994D}"/>
              </a:ext>
            </a:extLst>
          </p:cNvPr>
          <p:cNvSpPr/>
          <p:nvPr/>
        </p:nvSpPr>
        <p:spPr>
          <a:xfrm>
            <a:off x="4955547" y="7192654"/>
            <a:ext cx="333594" cy="286604"/>
          </a:xfrm>
          <a:prstGeom prst="rect">
            <a:avLst/>
          </a:prstGeom>
          <a:solidFill>
            <a:srgbClr val="3737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CB57BC-A4ED-4A42-8824-367ADB0DF803}"/>
              </a:ext>
            </a:extLst>
          </p:cNvPr>
          <p:cNvSpPr/>
          <p:nvPr/>
        </p:nvSpPr>
        <p:spPr>
          <a:xfrm>
            <a:off x="6699861" y="7192654"/>
            <a:ext cx="333594" cy="286604"/>
          </a:xfrm>
          <a:prstGeom prst="rect">
            <a:avLst/>
          </a:prstGeom>
          <a:solidFill>
            <a:srgbClr val="0F30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E30460-38B3-475A-A2B7-B0914C420235}"/>
              </a:ext>
            </a:extLst>
          </p:cNvPr>
          <p:cNvSpPr/>
          <p:nvPr/>
        </p:nvSpPr>
        <p:spPr>
          <a:xfrm>
            <a:off x="6007225" y="7192654"/>
            <a:ext cx="333594" cy="286604"/>
          </a:xfrm>
          <a:prstGeom prst="rect">
            <a:avLst/>
          </a:prstGeom>
          <a:solidFill>
            <a:srgbClr val="C824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2D5E41-A6BE-4845-90C2-A7FC659F12B5}"/>
              </a:ext>
            </a:extLst>
          </p:cNvPr>
          <p:cNvSpPr/>
          <p:nvPr/>
        </p:nvSpPr>
        <p:spPr>
          <a:xfrm>
            <a:off x="7260349" y="7192654"/>
            <a:ext cx="333594" cy="286604"/>
          </a:xfrm>
          <a:prstGeom prst="rect">
            <a:avLst/>
          </a:prstGeom>
          <a:solidFill>
            <a:srgbClr val="F2E5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Rounded Corners 92">
            <a:extLst>
              <a:ext uri="{FF2B5EF4-FFF2-40B4-BE49-F238E27FC236}">
                <a16:creationId xmlns:a16="http://schemas.microsoft.com/office/drawing/2014/main" id="{DE26FAFE-F05E-4B64-AD03-0290DF9A20B8}"/>
              </a:ext>
            </a:extLst>
          </p:cNvPr>
          <p:cNvSpPr/>
          <p:nvPr/>
        </p:nvSpPr>
        <p:spPr>
          <a:xfrm>
            <a:off x="668168" y="12289"/>
            <a:ext cx="12182330" cy="6858000"/>
          </a:xfrm>
          <a:prstGeom prst="roundRect">
            <a:avLst>
              <a:gd name="adj" fmla="val 3913"/>
            </a:avLst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127000" dist="76200" dir="10800000" sx="101000" sy="101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cxnSp>
        <p:nvCxnSpPr>
          <p:cNvPr id="12" name="2Straight Connector">
            <a:extLst>
              <a:ext uri="{FF2B5EF4-FFF2-40B4-BE49-F238E27FC236}">
                <a16:creationId xmlns:a16="http://schemas.microsoft.com/office/drawing/2014/main" id="{8C9EB5B4-7924-493B-BEF7-8953DDEE34CE}"/>
              </a:ext>
            </a:extLst>
          </p:cNvPr>
          <p:cNvCxnSpPr>
            <a:cxnSpLocks/>
          </p:cNvCxnSpPr>
          <p:nvPr/>
        </p:nvCxnSpPr>
        <p:spPr>
          <a:xfrm>
            <a:off x="994551" y="875288"/>
            <a:ext cx="12192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93">
            <a:extLst>
              <a:ext uri="{FF2B5EF4-FFF2-40B4-BE49-F238E27FC236}">
                <a16:creationId xmlns:a16="http://schemas.microsoft.com/office/drawing/2014/main" id="{F1EA363D-BF3D-4981-BF93-2C7755BC7668}"/>
              </a:ext>
            </a:extLst>
          </p:cNvPr>
          <p:cNvSpPr/>
          <p:nvPr/>
        </p:nvSpPr>
        <p:spPr>
          <a:xfrm>
            <a:off x="1121283" y="32572"/>
            <a:ext cx="12182331" cy="6858000"/>
          </a:xfrm>
          <a:prstGeom prst="roundRect">
            <a:avLst>
              <a:gd name="adj" fmla="val 3913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27000" dist="76200" dir="10800000" sx="101000" sy="101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cxnSp>
        <p:nvCxnSpPr>
          <p:cNvPr id="14" name="3Straight Connector">
            <a:extLst>
              <a:ext uri="{FF2B5EF4-FFF2-40B4-BE49-F238E27FC236}">
                <a16:creationId xmlns:a16="http://schemas.microsoft.com/office/drawing/2014/main" id="{D8BB44E0-7585-4BDC-BE93-099ED17B34B6}"/>
              </a:ext>
            </a:extLst>
          </p:cNvPr>
          <p:cNvCxnSpPr>
            <a:cxnSpLocks/>
          </p:cNvCxnSpPr>
          <p:nvPr/>
        </p:nvCxnSpPr>
        <p:spPr>
          <a:xfrm>
            <a:off x="1747701" y="875288"/>
            <a:ext cx="12192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94">
            <a:extLst>
              <a:ext uri="{FF2B5EF4-FFF2-40B4-BE49-F238E27FC236}">
                <a16:creationId xmlns:a16="http://schemas.microsoft.com/office/drawing/2014/main" id="{D68A4F18-CB86-4BDC-8E76-D3601D94C91D}"/>
              </a:ext>
            </a:extLst>
          </p:cNvPr>
          <p:cNvSpPr/>
          <p:nvPr/>
        </p:nvSpPr>
        <p:spPr>
          <a:xfrm>
            <a:off x="1439328" y="10142"/>
            <a:ext cx="12182330" cy="6858000"/>
          </a:xfrm>
          <a:prstGeom prst="roundRect">
            <a:avLst>
              <a:gd name="adj" fmla="val 4493"/>
            </a:avLst>
          </a:prstGeom>
          <a:solidFill>
            <a:srgbClr val="0F3041"/>
          </a:solidFill>
          <a:ln>
            <a:noFill/>
          </a:ln>
          <a:effectLst>
            <a:outerShdw blurRad="127000" dist="76200" dir="10800000" sx="101000" sy="101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cxnSp>
        <p:nvCxnSpPr>
          <p:cNvPr id="16" name="4Straight Connector">
            <a:extLst>
              <a:ext uri="{FF2B5EF4-FFF2-40B4-BE49-F238E27FC236}">
                <a16:creationId xmlns:a16="http://schemas.microsoft.com/office/drawing/2014/main" id="{5EE04C56-8A31-4813-8A5B-744BA64C6A36}"/>
              </a:ext>
            </a:extLst>
          </p:cNvPr>
          <p:cNvCxnSpPr>
            <a:cxnSpLocks/>
          </p:cNvCxnSpPr>
          <p:nvPr/>
        </p:nvCxnSpPr>
        <p:spPr>
          <a:xfrm>
            <a:off x="2424845" y="875288"/>
            <a:ext cx="12192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95">
            <a:extLst>
              <a:ext uri="{FF2B5EF4-FFF2-40B4-BE49-F238E27FC236}">
                <a16:creationId xmlns:a16="http://schemas.microsoft.com/office/drawing/2014/main" id="{BEA104E5-B538-413B-A27D-447E7819706F}"/>
              </a:ext>
            </a:extLst>
          </p:cNvPr>
          <p:cNvSpPr/>
          <p:nvPr/>
        </p:nvSpPr>
        <p:spPr>
          <a:xfrm>
            <a:off x="1734369" y="0"/>
            <a:ext cx="12182331" cy="6858000"/>
          </a:xfrm>
          <a:prstGeom prst="roundRect">
            <a:avLst>
              <a:gd name="adj" fmla="val 2947"/>
            </a:avLst>
          </a:prstGeom>
          <a:solidFill>
            <a:srgbClr val="F2E5B9"/>
          </a:solidFill>
          <a:ln>
            <a:noFill/>
          </a:ln>
          <a:effectLst>
            <a:outerShdw blurRad="127000" dist="76200" dir="10800000" sx="101000" sy="101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18" name="5TSub">
            <a:extLst>
              <a:ext uri="{FF2B5EF4-FFF2-40B4-BE49-F238E27FC236}">
                <a16:creationId xmlns:a16="http://schemas.microsoft.com/office/drawing/2014/main" id="{3BB38DD2-200C-48DA-84EF-A534DA2DF061}"/>
              </a:ext>
            </a:extLst>
          </p:cNvPr>
          <p:cNvSpPr txBox="1"/>
          <p:nvPr/>
        </p:nvSpPr>
        <p:spPr>
          <a:xfrm>
            <a:off x="3658177" y="505956"/>
            <a:ext cx="6250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 smtClean="0">
                <a:latin typeface="Calibri" panose="020F0502020204030204"/>
              </a:rPr>
              <a:t>Where</a:t>
            </a:r>
            <a:r>
              <a:rPr kumimoji="0" lang="en-IN" sz="1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will we do</a:t>
            </a:r>
            <a:r>
              <a:rPr kumimoji="0" lang="en-IN" sz="18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IN" sz="1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use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this </a:t>
            </a:r>
          </a:p>
        </p:txBody>
      </p:sp>
      <p:sp>
        <p:nvSpPr>
          <p:cNvPr id="19" name="5Title">
            <a:extLst>
              <a:ext uri="{FF2B5EF4-FFF2-40B4-BE49-F238E27FC236}">
                <a16:creationId xmlns:a16="http://schemas.microsoft.com/office/drawing/2014/main" id="{75F7876B-6CD5-4DE8-94D8-7780E98E5A09}"/>
              </a:ext>
            </a:extLst>
          </p:cNvPr>
          <p:cNvSpPr txBox="1"/>
          <p:nvPr/>
        </p:nvSpPr>
        <p:spPr>
          <a:xfrm>
            <a:off x="3577970" y="-107951"/>
            <a:ext cx="44001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Applications</a:t>
            </a:r>
            <a:endParaRPr kumimoji="0" lang="en-IN" sz="4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5TextBox">
            <a:extLst>
              <a:ext uri="{FF2B5EF4-FFF2-40B4-BE49-F238E27FC236}">
                <a16:creationId xmlns:a16="http://schemas.microsoft.com/office/drawing/2014/main" id="{EFA374BB-A6FC-47FD-B973-7987CC5CCFD9}"/>
              </a:ext>
            </a:extLst>
          </p:cNvPr>
          <p:cNvSpPr txBox="1"/>
          <p:nvPr/>
        </p:nvSpPr>
        <p:spPr>
          <a:xfrm>
            <a:off x="3194828" y="1520976"/>
            <a:ext cx="857922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buFont typeface="Arial" pitchFamily="34" charset="0"/>
              <a:buChar char="•"/>
            </a:pPr>
            <a:r>
              <a:rPr lang="en-US" sz="2000" dirty="0" smtClean="0">
                <a:latin typeface="Maven Pro" pitchFamily="2" charset="0"/>
              </a:rPr>
              <a:t>  Obstacle avoiding systems can be used in almost all mobile robot navigation systems.</a:t>
            </a:r>
          </a:p>
          <a:p>
            <a:pPr fontAlgn="base"/>
            <a:endParaRPr lang="en-US" sz="2000" dirty="0" smtClean="0">
              <a:latin typeface="Maven Pro" pitchFamily="2" charset="0"/>
            </a:endParaRPr>
          </a:p>
          <a:p>
            <a:pPr fontAlgn="base">
              <a:buFont typeface="Arial" pitchFamily="34" charset="0"/>
              <a:buChar char="•"/>
            </a:pPr>
            <a:r>
              <a:rPr lang="en-US" sz="2000" dirty="0" smtClean="0">
                <a:latin typeface="Maven Pro" pitchFamily="2" charset="0"/>
              </a:rPr>
              <a:t>They can be used for household work like automatic vacuum cleaning.</a:t>
            </a:r>
          </a:p>
          <a:p>
            <a:pPr fontAlgn="base"/>
            <a:endParaRPr lang="en-US" sz="2000" dirty="0" smtClean="0">
              <a:latin typeface="Maven Pro" pitchFamily="2" charset="0"/>
            </a:endParaRPr>
          </a:p>
          <a:p>
            <a:pPr fontAlgn="base">
              <a:buFont typeface="Arial" pitchFamily="34" charset="0"/>
              <a:buChar char="•"/>
            </a:pPr>
            <a:r>
              <a:rPr lang="en-US" sz="2000" dirty="0" smtClean="0">
                <a:latin typeface="Maven Pro" pitchFamily="2" charset="0"/>
              </a:rPr>
              <a:t>They can also be used in dangerous environments, where human penetration could be fatal.</a:t>
            </a:r>
          </a:p>
          <a:p>
            <a:pPr fontAlgn="base"/>
            <a:endParaRPr lang="en-US" sz="2000" dirty="0" smtClean="0">
              <a:latin typeface="Maven Pro" pitchFamily="2" charset="0"/>
            </a:endParaRPr>
          </a:p>
          <a:p>
            <a:pPr fontAlgn="base">
              <a:buFont typeface="Arial" pitchFamily="34" charset="0"/>
              <a:buChar char="•"/>
            </a:pPr>
            <a:r>
              <a:rPr lang="en-US" sz="2000" dirty="0" smtClean="0">
                <a:latin typeface="Maven Pro" pitchFamily="2" charset="0"/>
              </a:rPr>
              <a:t>In the growing need of usage of unmanned aerial vehicles in urban areas for especially military applications where obstacle avoiding systems  can be very useful. </a:t>
            </a:r>
          </a:p>
          <a:p>
            <a:pPr fontAlgn="base"/>
            <a:endParaRPr lang="en-US" sz="2000" dirty="0" smtClean="0">
              <a:latin typeface="Maven Pro" pitchFamily="2" charset="0"/>
            </a:endParaRPr>
          </a:p>
          <a:p>
            <a:pPr fontAlgn="base">
              <a:buFont typeface="Arial" pitchFamily="34" charset="0"/>
              <a:buChar char="•"/>
            </a:pPr>
            <a:r>
              <a:rPr lang="en-US" sz="2000" dirty="0" smtClean="0">
                <a:latin typeface="Maven Pro" pitchFamily="2" charset="0"/>
              </a:rPr>
              <a:t>As recent advances in the autonomous vehicles sector, a good and dependable obstacle avoidance system of a driverless platform can be very useful.</a:t>
            </a:r>
          </a:p>
          <a:p>
            <a:r>
              <a:rPr lang="en-US" sz="2000" dirty="0" smtClean="0">
                <a:latin typeface="Maven Pro" pitchFamily="2" charset="0"/>
              </a:rPr>
              <a:t/>
            </a:r>
            <a:br>
              <a:rPr lang="en-US" sz="2000" dirty="0" smtClean="0">
                <a:latin typeface="Maven Pro" pitchFamily="2" charset="0"/>
              </a:rPr>
            </a:br>
            <a:r>
              <a:rPr lang="en-US" sz="2000" dirty="0" smtClean="0">
                <a:latin typeface="Maven Pro" pitchFamily="2" charset="0"/>
              </a:rPr>
              <a:t> </a:t>
            </a:r>
            <a:r>
              <a:rPr lang="en-US" sz="2000" dirty="0">
                <a:latin typeface="Maven Pro" pitchFamily="2" charset="0"/>
              </a:rPr>
              <a:t/>
            </a:r>
            <a:br>
              <a:rPr lang="en-US" sz="2000" dirty="0">
                <a:latin typeface="Maven Pro" pitchFamily="2" charset="0"/>
              </a:rPr>
            </a:br>
            <a:endParaRPr kumimoji="0" lang="en-IN" sz="2000" i="0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Maven Pro" pitchFamily="2" charset="0"/>
            </a:endParaRPr>
          </a:p>
        </p:txBody>
      </p:sp>
      <p:cxnSp>
        <p:nvCxnSpPr>
          <p:cNvPr id="21" name="5Straight Connector">
            <a:extLst>
              <a:ext uri="{FF2B5EF4-FFF2-40B4-BE49-F238E27FC236}">
                <a16:creationId xmlns:a16="http://schemas.microsoft.com/office/drawing/2014/main" id="{1BE91359-CBDC-43A5-904E-9D39FC54F2FE}"/>
              </a:ext>
            </a:extLst>
          </p:cNvPr>
          <p:cNvCxnSpPr>
            <a:cxnSpLocks/>
          </p:cNvCxnSpPr>
          <p:nvPr/>
        </p:nvCxnSpPr>
        <p:spPr>
          <a:xfrm>
            <a:off x="3115321" y="875288"/>
            <a:ext cx="12192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8804A22B-6B23-4199-A2AA-C17FC9B24A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19972" y="881046"/>
            <a:ext cx="749712" cy="7497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99547DF5-6BE5-4212-8046-391296345F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F2602D99-1EAF-4F42-AD5B-486EA0E52F4C}"/>
              </a:ext>
            </a:extLst>
          </p:cNvPr>
          <p:cNvSpPr/>
          <p:nvPr/>
        </p:nvSpPr>
        <p:spPr>
          <a:xfrm>
            <a:off x="1" y="0"/>
            <a:ext cx="12191999" cy="6858000"/>
          </a:xfrm>
          <a:prstGeom prst="rect">
            <a:avLst/>
          </a:prstGeom>
          <a:gradFill flip="none" rotWithShape="1">
            <a:gsLst>
              <a:gs pos="14000">
                <a:srgbClr val="000099">
                  <a:alpha val="93000"/>
                </a:srgbClr>
              </a:gs>
              <a:gs pos="81000">
                <a:srgbClr val="660033">
                  <a:alpha val="88000"/>
                </a:srgb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D728C5C-6925-4098-8A7A-86A42B3B242D}"/>
              </a:ext>
            </a:extLst>
          </p:cNvPr>
          <p:cNvCxnSpPr/>
          <p:nvPr/>
        </p:nvCxnSpPr>
        <p:spPr>
          <a:xfrm>
            <a:off x="4075450" y="5614737"/>
            <a:ext cx="1812003" cy="0"/>
          </a:xfrm>
          <a:prstGeom prst="line">
            <a:avLst/>
          </a:prstGeom>
          <a:ln>
            <a:solidFill>
              <a:srgbClr val="FFC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DC67951-592D-4CB1-B1FA-479F8BDD6BBF}"/>
              </a:ext>
            </a:extLst>
          </p:cNvPr>
          <p:cNvCxnSpPr>
            <a:cxnSpLocks/>
          </p:cNvCxnSpPr>
          <p:nvPr/>
        </p:nvCxnSpPr>
        <p:spPr>
          <a:xfrm>
            <a:off x="5887453" y="826707"/>
            <a:ext cx="0" cy="4788030"/>
          </a:xfrm>
          <a:prstGeom prst="line">
            <a:avLst/>
          </a:prstGeom>
          <a:ln>
            <a:solidFill>
              <a:srgbClr val="FFC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2B2FBDB-B636-4EAF-BF5F-ADA57B34100C}"/>
              </a:ext>
            </a:extLst>
          </p:cNvPr>
          <p:cNvCxnSpPr/>
          <p:nvPr/>
        </p:nvCxnSpPr>
        <p:spPr>
          <a:xfrm>
            <a:off x="5898339" y="815821"/>
            <a:ext cx="1812003" cy="0"/>
          </a:xfrm>
          <a:prstGeom prst="line">
            <a:avLst/>
          </a:prstGeom>
          <a:ln>
            <a:solidFill>
              <a:srgbClr val="FFC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L-Shape 23">
            <a:extLst>
              <a:ext uri="{FF2B5EF4-FFF2-40B4-BE49-F238E27FC236}">
                <a16:creationId xmlns:a16="http://schemas.microsoft.com/office/drawing/2014/main" id="{CB7E0964-2D4F-48D3-B607-C90514A45364}"/>
              </a:ext>
            </a:extLst>
          </p:cNvPr>
          <p:cNvSpPr/>
          <p:nvPr/>
        </p:nvSpPr>
        <p:spPr>
          <a:xfrm flipH="1">
            <a:off x="5513211" y="5237310"/>
            <a:ext cx="446306" cy="446306"/>
          </a:xfrm>
          <a:prstGeom prst="corner">
            <a:avLst>
              <a:gd name="adj1" fmla="val 21989"/>
              <a:gd name="adj2" fmla="val 2381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L-Shape 24">
            <a:extLst>
              <a:ext uri="{FF2B5EF4-FFF2-40B4-BE49-F238E27FC236}">
                <a16:creationId xmlns:a16="http://schemas.microsoft.com/office/drawing/2014/main" id="{3A228385-E03C-438F-AFC4-0C341D21F098}"/>
              </a:ext>
            </a:extLst>
          </p:cNvPr>
          <p:cNvSpPr/>
          <p:nvPr/>
        </p:nvSpPr>
        <p:spPr>
          <a:xfrm flipV="1">
            <a:off x="5834569" y="757828"/>
            <a:ext cx="446306" cy="446306"/>
          </a:xfrm>
          <a:prstGeom prst="corner">
            <a:avLst>
              <a:gd name="adj1" fmla="val 21989"/>
              <a:gd name="adj2" fmla="val 2381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39D88861-5697-485E-862A-191EE628E4C2}"/>
              </a:ext>
            </a:extLst>
          </p:cNvPr>
          <p:cNvSpPr/>
          <p:nvPr/>
        </p:nvSpPr>
        <p:spPr>
          <a:xfrm>
            <a:off x="3801649" y="5500324"/>
            <a:ext cx="228826" cy="228826"/>
          </a:xfrm>
          <a:custGeom>
            <a:avLst/>
            <a:gdLst>
              <a:gd name="connsiteX0" fmla="*/ 114413 w 228826"/>
              <a:gd name="connsiteY0" fmla="*/ 44234 h 228826"/>
              <a:gd name="connsiteX1" fmla="*/ 44234 w 228826"/>
              <a:gd name="connsiteY1" fmla="*/ 114413 h 228826"/>
              <a:gd name="connsiteX2" fmla="*/ 114413 w 228826"/>
              <a:gd name="connsiteY2" fmla="*/ 184592 h 228826"/>
              <a:gd name="connsiteX3" fmla="*/ 184592 w 228826"/>
              <a:gd name="connsiteY3" fmla="*/ 114413 h 228826"/>
              <a:gd name="connsiteX4" fmla="*/ 114413 w 228826"/>
              <a:gd name="connsiteY4" fmla="*/ 44234 h 228826"/>
              <a:gd name="connsiteX5" fmla="*/ 114413 w 228826"/>
              <a:gd name="connsiteY5" fmla="*/ 0 h 228826"/>
              <a:gd name="connsiteX6" fmla="*/ 228826 w 228826"/>
              <a:gd name="connsiteY6" fmla="*/ 114413 h 228826"/>
              <a:gd name="connsiteX7" fmla="*/ 114413 w 228826"/>
              <a:gd name="connsiteY7" fmla="*/ 228826 h 228826"/>
              <a:gd name="connsiteX8" fmla="*/ 0 w 228826"/>
              <a:gd name="connsiteY8" fmla="*/ 114413 h 228826"/>
              <a:gd name="connsiteX9" fmla="*/ 114413 w 228826"/>
              <a:gd name="connsiteY9" fmla="*/ 0 h 228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28826" h="228826">
                <a:moveTo>
                  <a:pt x="114413" y="44234"/>
                </a:moveTo>
                <a:cubicBezTo>
                  <a:pt x="75654" y="44234"/>
                  <a:pt x="44234" y="75654"/>
                  <a:pt x="44234" y="114413"/>
                </a:cubicBezTo>
                <a:cubicBezTo>
                  <a:pt x="44234" y="153172"/>
                  <a:pt x="75654" y="184592"/>
                  <a:pt x="114413" y="184592"/>
                </a:cubicBezTo>
                <a:cubicBezTo>
                  <a:pt x="153172" y="184592"/>
                  <a:pt x="184592" y="153172"/>
                  <a:pt x="184592" y="114413"/>
                </a:cubicBezTo>
                <a:cubicBezTo>
                  <a:pt x="184592" y="75654"/>
                  <a:pt x="153172" y="44234"/>
                  <a:pt x="114413" y="44234"/>
                </a:cubicBezTo>
                <a:close/>
                <a:moveTo>
                  <a:pt x="114413" y="0"/>
                </a:moveTo>
                <a:cubicBezTo>
                  <a:pt x="177602" y="0"/>
                  <a:pt x="228826" y="51224"/>
                  <a:pt x="228826" y="114413"/>
                </a:cubicBezTo>
                <a:cubicBezTo>
                  <a:pt x="228826" y="177602"/>
                  <a:pt x="177602" y="228826"/>
                  <a:pt x="114413" y="228826"/>
                </a:cubicBezTo>
                <a:cubicBezTo>
                  <a:pt x="51224" y="228826"/>
                  <a:pt x="0" y="177602"/>
                  <a:pt x="0" y="114413"/>
                </a:cubicBezTo>
                <a:cubicBezTo>
                  <a:pt x="0" y="51224"/>
                  <a:pt x="51224" y="0"/>
                  <a:pt x="11441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E03264A7-2C39-4A49-A96A-95D099C62F77}"/>
              </a:ext>
            </a:extLst>
          </p:cNvPr>
          <p:cNvSpPr/>
          <p:nvPr/>
        </p:nvSpPr>
        <p:spPr>
          <a:xfrm>
            <a:off x="3769521" y="5468196"/>
            <a:ext cx="293082" cy="29308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2D82C13A-8E10-4DE4-A390-1D312EEA9076}"/>
              </a:ext>
            </a:extLst>
          </p:cNvPr>
          <p:cNvSpPr/>
          <p:nvPr/>
        </p:nvSpPr>
        <p:spPr>
          <a:xfrm>
            <a:off x="7734642" y="704354"/>
            <a:ext cx="228826" cy="228826"/>
          </a:xfrm>
          <a:custGeom>
            <a:avLst/>
            <a:gdLst>
              <a:gd name="connsiteX0" fmla="*/ 114413 w 228826"/>
              <a:gd name="connsiteY0" fmla="*/ 44234 h 228826"/>
              <a:gd name="connsiteX1" fmla="*/ 44234 w 228826"/>
              <a:gd name="connsiteY1" fmla="*/ 114413 h 228826"/>
              <a:gd name="connsiteX2" fmla="*/ 114413 w 228826"/>
              <a:gd name="connsiteY2" fmla="*/ 184592 h 228826"/>
              <a:gd name="connsiteX3" fmla="*/ 184592 w 228826"/>
              <a:gd name="connsiteY3" fmla="*/ 114413 h 228826"/>
              <a:gd name="connsiteX4" fmla="*/ 114413 w 228826"/>
              <a:gd name="connsiteY4" fmla="*/ 44234 h 228826"/>
              <a:gd name="connsiteX5" fmla="*/ 114413 w 228826"/>
              <a:gd name="connsiteY5" fmla="*/ 0 h 228826"/>
              <a:gd name="connsiteX6" fmla="*/ 228826 w 228826"/>
              <a:gd name="connsiteY6" fmla="*/ 114413 h 228826"/>
              <a:gd name="connsiteX7" fmla="*/ 114413 w 228826"/>
              <a:gd name="connsiteY7" fmla="*/ 228826 h 228826"/>
              <a:gd name="connsiteX8" fmla="*/ 0 w 228826"/>
              <a:gd name="connsiteY8" fmla="*/ 114413 h 228826"/>
              <a:gd name="connsiteX9" fmla="*/ 114413 w 228826"/>
              <a:gd name="connsiteY9" fmla="*/ 0 h 228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28826" h="228826">
                <a:moveTo>
                  <a:pt x="114413" y="44234"/>
                </a:moveTo>
                <a:cubicBezTo>
                  <a:pt x="75654" y="44234"/>
                  <a:pt x="44234" y="75654"/>
                  <a:pt x="44234" y="114413"/>
                </a:cubicBezTo>
                <a:cubicBezTo>
                  <a:pt x="44234" y="153172"/>
                  <a:pt x="75654" y="184592"/>
                  <a:pt x="114413" y="184592"/>
                </a:cubicBezTo>
                <a:cubicBezTo>
                  <a:pt x="153172" y="184592"/>
                  <a:pt x="184592" y="153172"/>
                  <a:pt x="184592" y="114413"/>
                </a:cubicBezTo>
                <a:cubicBezTo>
                  <a:pt x="184592" y="75654"/>
                  <a:pt x="153172" y="44234"/>
                  <a:pt x="114413" y="44234"/>
                </a:cubicBezTo>
                <a:close/>
                <a:moveTo>
                  <a:pt x="114413" y="0"/>
                </a:moveTo>
                <a:cubicBezTo>
                  <a:pt x="177602" y="0"/>
                  <a:pt x="228826" y="51224"/>
                  <a:pt x="228826" y="114413"/>
                </a:cubicBezTo>
                <a:cubicBezTo>
                  <a:pt x="228826" y="177602"/>
                  <a:pt x="177602" y="228826"/>
                  <a:pt x="114413" y="228826"/>
                </a:cubicBezTo>
                <a:cubicBezTo>
                  <a:pt x="51224" y="228826"/>
                  <a:pt x="0" y="177602"/>
                  <a:pt x="0" y="114413"/>
                </a:cubicBezTo>
                <a:cubicBezTo>
                  <a:pt x="0" y="51224"/>
                  <a:pt x="51224" y="0"/>
                  <a:pt x="11441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C1FD8956-4CB2-4C4D-81F1-935BA3CB45B7}"/>
              </a:ext>
            </a:extLst>
          </p:cNvPr>
          <p:cNvSpPr/>
          <p:nvPr/>
        </p:nvSpPr>
        <p:spPr>
          <a:xfrm>
            <a:off x="7702514" y="672226"/>
            <a:ext cx="293082" cy="29308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120F8FF-3BF2-4639-9A57-76FCA983E281}"/>
              </a:ext>
            </a:extLst>
          </p:cNvPr>
          <p:cNvSpPr/>
          <p:nvPr/>
        </p:nvSpPr>
        <p:spPr>
          <a:xfrm>
            <a:off x="5834569" y="1596455"/>
            <a:ext cx="124948" cy="59698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51E383F-BAC3-43EA-9A9C-679B3297675B}"/>
              </a:ext>
            </a:extLst>
          </p:cNvPr>
          <p:cNvSpPr txBox="1"/>
          <p:nvPr/>
        </p:nvSpPr>
        <p:spPr>
          <a:xfrm>
            <a:off x="6947163" y="2543391"/>
            <a:ext cx="507232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spc="300" dirty="0">
                <a:solidFill>
                  <a:schemeClr val="bg1"/>
                </a:solidFill>
                <a:latin typeface="Oswald Light" panose="00000400000000000000" pitchFamily="2" charset="0"/>
              </a:rPr>
              <a:t>Thank </a:t>
            </a:r>
            <a:r>
              <a:rPr lang="en-IN" sz="4000" spc="300" dirty="0" smtClean="0">
                <a:solidFill>
                  <a:schemeClr val="bg1"/>
                </a:solidFill>
                <a:latin typeface="Oswald Light" panose="00000400000000000000" pitchFamily="2" charset="0"/>
              </a:rPr>
              <a:t>You For your Patience</a:t>
            </a:r>
            <a:r>
              <a:rPr lang="en-IN" sz="2800" spc="300" dirty="0" smtClean="0">
                <a:solidFill>
                  <a:schemeClr val="bg1"/>
                </a:solidFill>
                <a:latin typeface="Oswald Light" panose="00000400000000000000" pitchFamily="2" charset="0"/>
              </a:rPr>
              <a:t>!</a:t>
            </a:r>
            <a:endParaRPr lang="en-IN" sz="2800" spc="300" dirty="0">
              <a:solidFill>
                <a:schemeClr val="bg1"/>
              </a:solidFill>
              <a:latin typeface="Oswald Light" panose="00000400000000000000" pitchFamily="2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47A0EDF-A8B9-4776-9993-FEC48CC4F67B}"/>
              </a:ext>
            </a:extLst>
          </p:cNvPr>
          <p:cNvSpPr/>
          <p:nvPr/>
        </p:nvSpPr>
        <p:spPr>
          <a:xfrm>
            <a:off x="6774648" y="2088461"/>
            <a:ext cx="5072321" cy="2264521"/>
          </a:xfrm>
          <a:prstGeom prst="rect">
            <a:avLst/>
          </a:prstGeom>
          <a:solidFill>
            <a:schemeClr val="bg1">
              <a:alpha val="24000"/>
            </a:schemeClr>
          </a:solidFill>
          <a:ln w="3175">
            <a:solidFill>
              <a:schemeClr val="bg1">
                <a:alpha val="87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0" name="Parallelogram 39">
            <a:extLst>
              <a:ext uri="{FF2B5EF4-FFF2-40B4-BE49-F238E27FC236}">
                <a16:creationId xmlns:a16="http://schemas.microsoft.com/office/drawing/2014/main" id="{F507A3EF-8C07-4014-859F-8D50CDD38D59}"/>
              </a:ext>
            </a:extLst>
          </p:cNvPr>
          <p:cNvSpPr/>
          <p:nvPr/>
        </p:nvSpPr>
        <p:spPr>
          <a:xfrm>
            <a:off x="-11166306" y="0"/>
            <a:ext cx="9528313" cy="6858000"/>
          </a:xfrm>
          <a:prstGeom prst="parallelogram">
            <a:avLst>
              <a:gd name="adj" fmla="val 69560"/>
            </a:avLst>
          </a:prstGeom>
          <a:solidFill>
            <a:schemeClr val="bg1">
              <a:alpha val="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Parallelogram 40">
            <a:extLst>
              <a:ext uri="{FF2B5EF4-FFF2-40B4-BE49-F238E27FC236}">
                <a16:creationId xmlns:a16="http://schemas.microsoft.com/office/drawing/2014/main" id="{4354F00B-7AF7-44B2-81AA-8B559F691B72}"/>
              </a:ext>
            </a:extLst>
          </p:cNvPr>
          <p:cNvSpPr/>
          <p:nvPr/>
        </p:nvSpPr>
        <p:spPr>
          <a:xfrm>
            <a:off x="14963819" y="0"/>
            <a:ext cx="9528313" cy="6858000"/>
          </a:xfrm>
          <a:prstGeom prst="parallelogram">
            <a:avLst>
              <a:gd name="adj" fmla="val 69560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6" name="Picture 2" descr="Lecture 1 : Introduction to Microprocessors &amp; Microcontrollers - YouTube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81"/>
          <a:stretch/>
        </p:blipFill>
        <p:spPr bwMode="auto">
          <a:xfrm>
            <a:off x="1185862" y="1651775"/>
            <a:ext cx="4336605" cy="3106673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  <a:extLst/>
        </p:spPr>
      </p:pic>
    </p:spTree>
    <p:extLst>
      <p:ext uri="{BB962C8B-B14F-4D97-AF65-F5344CB8AC3E}">
        <p14:creationId xmlns:p14="http://schemas.microsoft.com/office/powerpoint/2010/main" val="206651250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path" presetSubtype="0" accel="50000" decel="5000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animMotion origin="layout" path="M -3.75E-6 1.11111E-6 L -3.75E-6 0.4037 " pathEditMode="relative" rAng="0" ptsTypes="AA">
                                      <p:cBhvr>
                                        <p:cTn id="54" dur="1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0185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63" presetClass="path" presetSubtype="0" decel="10000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animMotion origin="layout" path="M 2.08333E-7 0 L 0.94258 0 " pathEditMode="relative" rAng="0" ptsTypes="AA">
                                      <p:cBhvr>
                                        <p:cTn id="56" dur="1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135" y="0"/>
                                    </p:animMotion>
                                  </p:childTnLst>
                                </p:cTn>
                              </p:par>
                              <p:par>
                                <p:cTn id="57" presetID="35" presetClass="path" presetSubtype="0" decel="10000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animMotion origin="layout" path="M 1.04167E-6 0 L -1.01146 0 " pathEditMode="relative" rAng="0" ptsTypes="AA">
                                      <p:cBhvr>
                                        <p:cTn id="58" dur="1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57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8" grpId="0" animBg="1"/>
      <p:bldP spid="30" grpId="0" animBg="1"/>
      <p:bldP spid="31" grpId="0" animBg="1"/>
      <p:bldP spid="32" grpId="0" animBg="1"/>
      <p:bldP spid="33" grpId="0" animBg="1"/>
      <p:bldP spid="33" grpId="1" animBg="1"/>
      <p:bldP spid="34" grpId="0"/>
      <p:bldP spid="36" grpId="0" animBg="1"/>
      <p:bldP spid="40" grpId="0" animBg="1"/>
      <p:bldP spid="41" grpId="0" animBg="1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microsoft.com/office/2007/relationships/hdphoto" Target="../media/hdphoto1.wdp"/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sharpenSoften amount="-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-20000" r="-30000"/>
          </a:stretch>
        </a:blipFill>
        <a:ln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2393</TotalTime>
  <Words>384</Words>
  <Application>Microsoft Office PowerPoint</Application>
  <PresentationFormat>Widescreen</PresentationFormat>
  <Paragraphs>125</Paragraphs>
  <Slides>12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Arial</vt:lpstr>
      <vt:lpstr>Calibri</vt:lpstr>
      <vt:lpstr>Calibri Light</vt:lpstr>
      <vt:lpstr>Larsseit-Bold</vt:lpstr>
      <vt:lpstr>Maven Pro</vt:lpstr>
      <vt:lpstr>Oswald Light</vt:lpstr>
      <vt:lpstr>Tahoma</vt:lpstr>
      <vt:lpstr>Verdana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Pawan</dc:creator>
  <cp:lastModifiedBy>SONY</cp:lastModifiedBy>
  <cp:revision>72</cp:revision>
  <dcterms:created xsi:type="dcterms:W3CDTF">2020-10-17T16:07:32Z</dcterms:created>
  <dcterms:modified xsi:type="dcterms:W3CDTF">2022-04-24T06:37:09Z</dcterms:modified>
</cp:coreProperties>
</file>